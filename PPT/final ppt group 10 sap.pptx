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63" r:id="rId3"/>
    <p:sldId id="262" r:id="rId4"/>
    <p:sldId id="259" r:id="rId5"/>
    <p:sldId id="323" r:id="rId6"/>
    <p:sldId id="326" r:id="rId7"/>
    <p:sldId id="338" r:id="rId8"/>
    <p:sldId id="348" r:id="rId9"/>
    <p:sldId id="352" r:id="rId10"/>
    <p:sldId id="351" r:id="rId11"/>
    <p:sldId id="353" r:id="rId12"/>
    <p:sldId id="363" r:id="rId13"/>
    <p:sldId id="354" r:id="rId14"/>
    <p:sldId id="347" r:id="rId15"/>
    <p:sldId id="337" r:id="rId16"/>
    <p:sldId id="359" r:id="rId17"/>
    <p:sldId id="355" r:id="rId18"/>
    <p:sldId id="330" r:id="rId19"/>
    <p:sldId id="332" r:id="rId20"/>
    <p:sldId id="364" r:id="rId21"/>
    <p:sldId id="335" r:id="rId22"/>
    <p:sldId id="342" r:id="rId23"/>
    <p:sldId id="344" r:id="rId24"/>
    <p:sldId id="365" r:id="rId25"/>
    <p:sldId id="366" r:id="rId26"/>
    <p:sldId id="368" r:id="rId27"/>
    <p:sldId id="369" r:id="rId28"/>
    <p:sldId id="370" r:id="rId29"/>
    <p:sldId id="376" r:id="rId30"/>
    <p:sldId id="371" r:id="rId31"/>
    <p:sldId id="374" r:id="rId32"/>
    <p:sldId id="372" r:id="rId33"/>
    <p:sldId id="373" r:id="rId34"/>
    <p:sldId id="361" r:id="rId35"/>
    <p:sldId id="377" r:id="rId36"/>
    <p:sldId id="261" r:id="rId37"/>
    <p:sldId id="26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E1F9F-3BFD-48BC-BC2F-FB69D70039A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FBBC6B3-9485-4573-A585-9EE6AE65DE0A}">
      <dgm:prSet phldrT="[Text]" custT="1"/>
      <dgm:spPr/>
      <dgm:t>
        <a:bodyPr/>
        <a:lstStyle/>
        <a:p>
          <a:r>
            <a:rPr lang="en-IN" sz="1600" dirty="0"/>
            <a:t>Study previous literatures and formulate objectives based on research gaps</a:t>
          </a:r>
        </a:p>
      </dgm:t>
    </dgm:pt>
    <dgm:pt modelId="{10EC5FF0-1AC4-4ADD-8184-A7EA5FED7572}" type="parTrans" cxnId="{16373027-B2E5-4FBC-A2BE-280B6E9C4D12}">
      <dgm:prSet/>
      <dgm:spPr/>
      <dgm:t>
        <a:bodyPr/>
        <a:lstStyle/>
        <a:p>
          <a:endParaRPr lang="en-IN"/>
        </a:p>
      </dgm:t>
    </dgm:pt>
    <dgm:pt modelId="{549520A5-BCC4-4A9F-B539-3163B64F3DE8}" type="sibTrans" cxnId="{16373027-B2E5-4FBC-A2BE-280B6E9C4D12}">
      <dgm:prSet/>
      <dgm:spPr/>
      <dgm:t>
        <a:bodyPr/>
        <a:lstStyle/>
        <a:p>
          <a:endParaRPr lang="en-IN"/>
        </a:p>
      </dgm:t>
    </dgm:pt>
    <dgm:pt modelId="{B483520E-C5DA-46B4-8F24-3A8367F4F64F}">
      <dgm:prSet phldrT="[Text]" custT="1"/>
      <dgm:spPr/>
      <dgm:t>
        <a:bodyPr/>
        <a:lstStyle/>
        <a:p>
          <a:r>
            <a:rPr lang="en-IN" sz="1600" dirty="0"/>
            <a:t>Prepare concrete mixes with varying water-cement ratio with different SAP dosage</a:t>
          </a:r>
        </a:p>
      </dgm:t>
    </dgm:pt>
    <dgm:pt modelId="{45E56BAD-B70E-4F32-A680-F427D14706E6}" type="parTrans" cxnId="{C9AC478C-6B63-49AF-8E75-34C7DBC54897}">
      <dgm:prSet/>
      <dgm:spPr/>
      <dgm:t>
        <a:bodyPr/>
        <a:lstStyle/>
        <a:p>
          <a:endParaRPr lang="en-IN"/>
        </a:p>
      </dgm:t>
    </dgm:pt>
    <dgm:pt modelId="{9D7264D3-CAD0-4786-B3EF-700D2828B81E}" type="sibTrans" cxnId="{C9AC478C-6B63-49AF-8E75-34C7DBC54897}">
      <dgm:prSet/>
      <dgm:spPr/>
      <dgm:t>
        <a:bodyPr/>
        <a:lstStyle/>
        <a:p>
          <a:endParaRPr lang="en-IN"/>
        </a:p>
      </dgm:t>
    </dgm:pt>
    <dgm:pt modelId="{D4F08288-D8F2-4FA5-A067-DA648001075D}">
      <dgm:prSet phldrT="[Text]"/>
      <dgm:spPr/>
      <dgm:t>
        <a:bodyPr/>
        <a:lstStyle/>
        <a:p>
          <a:r>
            <a:rPr lang="en-IN"/>
            <a:t>Experimental Testing </a:t>
          </a:r>
        </a:p>
      </dgm:t>
    </dgm:pt>
    <dgm:pt modelId="{40F06D76-A5D6-47A7-A161-F7EB17C80E07}" type="parTrans" cxnId="{F4B2494B-B0A6-49EF-A97B-C13DDA7419ED}">
      <dgm:prSet/>
      <dgm:spPr/>
      <dgm:t>
        <a:bodyPr/>
        <a:lstStyle/>
        <a:p>
          <a:endParaRPr lang="en-IN"/>
        </a:p>
      </dgm:t>
    </dgm:pt>
    <dgm:pt modelId="{9997BA30-3763-4D0A-B9E8-D52B4FA028D9}" type="sibTrans" cxnId="{F4B2494B-B0A6-49EF-A97B-C13DDA7419ED}">
      <dgm:prSet/>
      <dgm:spPr/>
      <dgm:t>
        <a:bodyPr/>
        <a:lstStyle/>
        <a:p>
          <a:endParaRPr lang="en-IN"/>
        </a:p>
      </dgm:t>
    </dgm:pt>
    <dgm:pt modelId="{B67C15E1-AE1C-44C2-AE45-24F2DBA09139}">
      <dgm:prSet phldrT="[Text]" custT="1"/>
      <dgm:spPr/>
      <dgm:t>
        <a:bodyPr/>
        <a:lstStyle/>
        <a:p>
          <a:endParaRPr lang="en-IN" sz="1600" dirty="0"/>
        </a:p>
      </dgm:t>
    </dgm:pt>
    <dgm:pt modelId="{FBF88B07-34D5-48A1-93AF-2ABE7410FF5D}" type="parTrans" cxnId="{8054E2E4-9947-4FE7-8E56-1BBF39607DCA}">
      <dgm:prSet/>
      <dgm:spPr/>
      <dgm:t>
        <a:bodyPr/>
        <a:lstStyle/>
        <a:p>
          <a:endParaRPr lang="en-IN"/>
        </a:p>
      </dgm:t>
    </dgm:pt>
    <dgm:pt modelId="{D157E3CC-273F-4DC0-9FAC-FD29928C5D6D}" type="sibTrans" cxnId="{8054E2E4-9947-4FE7-8E56-1BBF39607DCA}">
      <dgm:prSet/>
      <dgm:spPr/>
      <dgm:t>
        <a:bodyPr/>
        <a:lstStyle/>
        <a:p>
          <a:endParaRPr lang="en-IN"/>
        </a:p>
      </dgm:t>
    </dgm:pt>
    <dgm:pt modelId="{98E29849-5E3F-402E-AEC6-0B5FC4EC2653}">
      <dgm:prSet phldrT="[Text]" custT="1"/>
      <dgm:spPr/>
      <dgm:t>
        <a:bodyPr/>
        <a:lstStyle/>
        <a:p>
          <a:r>
            <a:rPr lang="en-IN" sz="1600" dirty="0"/>
            <a:t> Fresh Concrete Property</a:t>
          </a:r>
        </a:p>
      </dgm:t>
    </dgm:pt>
    <dgm:pt modelId="{CBC412CC-CF24-47CE-B3CB-E4A71511AAFE}" type="parTrans" cxnId="{8ED247B7-1703-4858-9A7C-6CE71491377D}">
      <dgm:prSet/>
      <dgm:spPr/>
      <dgm:t>
        <a:bodyPr/>
        <a:lstStyle/>
        <a:p>
          <a:endParaRPr lang="en-IN"/>
        </a:p>
      </dgm:t>
    </dgm:pt>
    <dgm:pt modelId="{801E232D-B1D9-4315-B5B2-5933A563703C}" type="sibTrans" cxnId="{8ED247B7-1703-4858-9A7C-6CE71491377D}">
      <dgm:prSet/>
      <dgm:spPr/>
      <dgm:t>
        <a:bodyPr/>
        <a:lstStyle/>
        <a:p>
          <a:endParaRPr lang="en-IN"/>
        </a:p>
      </dgm:t>
    </dgm:pt>
    <dgm:pt modelId="{81E2812A-5E62-409E-8ADA-8AE66E7DC4FF}">
      <dgm:prSet phldrT="[Text]" custT="1"/>
      <dgm:spPr/>
      <dgm:t>
        <a:bodyPr/>
        <a:lstStyle/>
        <a:p>
          <a:r>
            <a:rPr lang="en-IN" sz="1200" dirty="0"/>
            <a:t> Workability (Slump Test)</a:t>
          </a:r>
        </a:p>
      </dgm:t>
    </dgm:pt>
    <dgm:pt modelId="{F639BCDC-F15A-477A-8C9F-FFE0457C7218}" type="parTrans" cxnId="{E657FAD1-1F73-44DB-9D5C-96395F42B312}">
      <dgm:prSet/>
      <dgm:spPr/>
      <dgm:t>
        <a:bodyPr/>
        <a:lstStyle/>
        <a:p>
          <a:endParaRPr lang="en-IN"/>
        </a:p>
      </dgm:t>
    </dgm:pt>
    <dgm:pt modelId="{01175DF5-BCE3-4AB8-919E-CBFB3E0D60A4}" type="sibTrans" cxnId="{E657FAD1-1F73-44DB-9D5C-96395F42B312}">
      <dgm:prSet/>
      <dgm:spPr/>
      <dgm:t>
        <a:bodyPr/>
        <a:lstStyle/>
        <a:p>
          <a:endParaRPr lang="en-IN"/>
        </a:p>
      </dgm:t>
    </dgm:pt>
    <dgm:pt modelId="{6E242531-7928-4357-86D5-20DB2672AE4A}">
      <dgm:prSet phldrT="[Text]" custT="1"/>
      <dgm:spPr/>
      <dgm:t>
        <a:bodyPr/>
        <a:lstStyle/>
        <a:p>
          <a:r>
            <a:rPr lang="en-IN" sz="1600" dirty="0"/>
            <a:t>Hardened Concrete Property</a:t>
          </a:r>
        </a:p>
      </dgm:t>
    </dgm:pt>
    <dgm:pt modelId="{2DCE09AF-5E2B-450B-B462-95E8A5349F32}" type="parTrans" cxnId="{1C6E694B-0F94-4FCA-B3A3-C39F97F9843B}">
      <dgm:prSet/>
      <dgm:spPr/>
      <dgm:t>
        <a:bodyPr/>
        <a:lstStyle/>
        <a:p>
          <a:endParaRPr lang="en-IN"/>
        </a:p>
      </dgm:t>
    </dgm:pt>
    <dgm:pt modelId="{2CD708A1-0AFC-4EDE-880F-C54111EFF020}" type="sibTrans" cxnId="{1C6E694B-0F94-4FCA-B3A3-C39F97F9843B}">
      <dgm:prSet/>
      <dgm:spPr/>
      <dgm:t>
        <a:bodyPr/>
        <a:lstStyle/>
        <a:p>
          <a:endParaRPr lang="en-IN"/>
        </a:p>
      </dgm:t>
    </dgm:pt>
    <dgm:pt modelId="{F7C6E95C-A89F-47DC-B23C-3ACBA7CDE10A}">
      <dgm:prSet phldrT="[Text]"/>
      <dgm:spPr/>
      <dgm:t>
        <a:bodyPr/>
        <a:lstStyle/>
        <a:p>
          <a:endParaRPr lang="en-IN" sz="1000" dirty="0"/>
        </a:p>
      </dgm:t>
    </dgm:pt>
    <dgm:pt modelId="{249CA432-27DC-4DB7-932F-0FE40FBC658C}" type="parTrans" cxnId="{7D432D27-012E-46A4-8958-3354C57F543D}">
      <dgm:prSet/>
      <dgm:spPr/>
      <dgm:t>
        <a:bodyPr/>
        <a:lstStyle/>
        <a:p>
          <a:endParaRPr lang="en-IN"/>
        </a:p>
      </dgm:t>
    </dgm:pt>
    <dgm:pt modelId="{03D41113-41BD-4964-8F45-46B8BA872816}" type="sibTrans" cxnId="{7D432D27-012E-46A4-8958-3354C57F543D}">
      <dgm:prSet/>
      <dgm:spPr/>
      <dgm:t>
        <a:bodyPr/>
        <a:lstStyle/>
        <a:p>
          <a:endParaRPr lang="en-IN"/>
        </a:p>
      </dgm:t>
    </dgm:pt>
    <dgm:pt modelId="{BA3AE9CB-A2E6-4FA7-ACE1-730DD0106609}">
      <dgm:prSet phldrT="[Text]" custT="1"/>
      <dgm:spPr/>
      <dgm:t>
        <a:bodyPr/>
        <a:lstStyle/>
        <a:p>
          <a:r>
            <a:rPr lang="en-IN" sz="1200" dirty="0"/>
            <a:t>Strength (Compressive Strength Test)</a:t>
          </a:r>
        </a:p>
      </dgm:t>
    </dgm:pt>
    <dgm:pt modelId="{CFEA86C5-4BE3-47CA-80B6-57D64591201D}" type="parTrans" cxnId="{90E94B29-403C-4B7C-B98C-C4ECAD71101F}">
      <dgm:prSet/>
      <dgm:spPr/>
      <dgm:t>
        <a:bodyPr/>
        <a:lstStyle/>
        <a:p>
          <a:endParaRPr lang="en-IN"/>
        </a:p>
      </dgm:t>
    </dgm:pt>
    <dgm:pt modelId="{314844F8-8E6A-4F83-B4D9-D666F74DA07B}" type="sibTrans" cxnId="{90E94B29-403C-4B7C-B98C-C4ECAD71101F}">
      <dgm:prSet/>
      <dgm:spPr/>
      <dgm:t>
        <a:bodyPr/>
        <a:lstStyle/>
        <a:p>
          <a:endParaRPr lang="en-IN"/>
        </a:p>
      </dgm:t>
    </dgm:pt>
    <dgm:pt modelId="{0FE51811-C1DD-490C-8A04-60CCDFFCEA3C}">
      <dgm:prSet/>
      <dgm:spPr/>
      <dgm:t>
        <a:bodyPr/>
        <a:lstStyle/>
        <a:p>
          <a:r>
            <a:rPr lang="en-IN"/>
            <a:t>Data Analysis &amp; Reporting</a:t>
          </a:r>
        </a:p>
      </dgm:t>
    </dgm:pt>
    <dgm:pt modelId="{FACCD086-8E96-4CC5-B505-72C11E34B382}" type="parTrans" cxnId="{C54E5E19-C06D-450C-ADFA-90E80885368A}">
      <dgm:prSet/>
      <dgm:spPr/>
      <dgm:t>
        <a:bodyPr/>
        <a:lstStyle/>
        <a:p>
          <a:endParaRPr lang="en-IN"/>
        </a:p>
      </dgm:t>
    </dgm:pt>
    <dgm:pt modelId="{081F7A97-174D-4028-8B8B-B86700D4E08A}" type="sibTrans" cxnId="{C54E5E19-C06D-450C-ADFA-90E80885368A}">
      <dgm:prSet/>
      <dgm:spPr/>
      <dgm:t>
        <a:bodyPr/>
        <a:lstStyle/>
        <a:p>
          <a:endParaRPr lang="en-IN"/>
        </a:p>
      </dgm:t>
    </dgm:pt>
    <dgm:pt modelId="{70B16926-67D9-4A8E-8974-FA37CCC12557}">
      <dgm:prSet custT="1"/>
      <dgm:spPr/>
      <dgm:t>
        <a:bodyPr/>
        <a:lstStyle/>
        <a:p>
          <a:r>
            <a:rPr lang="en-IN" sz="1600" dirty="0"/>
            <a:t>Data analysis and optimization</a:t>
          </a:r>
        </a:p>
      </dgm:t>
    </dgm:pt>
    <dgm:pt modelId="{467CA3F5-678F-44DE-9FB4-DA82F5C21A37}" type="parTrans" cxnId="{626A2A94-8332-4A02-90A2-5DCEC213409C}">
      <dgm:prSet/>
      <dgm:spPr/>
      <dgm:t>
        <a:bodyPr/>
        <a:lstStyle/>
        <a:p>
          <a:endParaRPr lang="en-IN"/>
        </a:p>
      </dgm:t>
    </dgm:pt>
    <dgm:pt modelId="{6FE79E80-11C5-4F85-9AF9-9A86E1A00672}" type="sibTrans" cxnId="{626A2A94-8332-4A02-90A2-5DCEC213409C}">
      <dgm:prSet/>
      <dgm:spPr/>
      <dgm:t>
        <a:bodyPr/>
        <a:lstStyle/>
        <a:p>
          <a:endParaRPr lang="en-IN"/>
        </a:p>
      </dgm:t>
    </dgm:pt>
    <dgm:pt modelId="{3E0A93F4-DE3E-49A8-A2CD-1CF1F319B3DA}">
      <dgm:prSet phldrT="[Text]"/>
      <dgm:spPr/>
      <dgm:t>
        <a:bodyPr/>
        <a:lstStyle/>
        <a:p>
          <a:r>
            <a:rPr lang="en-IN"/>
            <a:t>Literature Review</a:t>
          </a:r>
        </a:p>
      </dgm:t>
    </dgm:pt>
    <dgm:pt modelId="{CCBB88B1-E70F-4510-9EAE-3DB6F7138BA5}" type="sibTrans" cxnId="{CE4208E9-BBF9-4915-9460-0ABD94D1342A}">
      <dgm:prSet/>
      <dgm:spPr/>
      <dgm:t>
        <a:bodyPr/>
        <a:lstStyle/>
        <a:p>
          <a:endParaRPr lang="en-IN"/>
        </a:p>
      </dgm:t>
    </dgm:pt>
    <dgm:pt modelId="{4869D20E-C52C-438E-BA54-002FE4063E5B}" type="parTrans" cxnId="{CE4208E9-BBF9-4915-9460-0ABD94D1342A}">
      <dgm:prSet/>
      <dgm:spPr/>
      <dgm:t>
        <a:bodyPr/>
        <a:lstStyle/>
        <a:p>
          <a:endParaRPr lang="en-IN"/>
        </a:p>
      </dgm:t>
    </dgm:pt>
    <dgm:pt modelId="{992E3366-15AF-4DD8-A2D3-74594C35B053}">
      <dgm:prSet phldrT="[Text]" custT="1"/>
      <dgm:spPr/>
      <dgm:t>
        <a:bodyPr/>
        <a:lstStyle/>
        <a:p>
          <a:r>
            <a:rPr lang="en-IN" sz="1400"/>
            <a:t>Mix Design </a:t>
          </a:r>
        </a:p>
        <a:p>
          <a:r>
            <a:rPr lang="en-IN" sz="1400"/>
            <a:t>Preparation</a:t>
          </a:r>
        </a:p>
      </dgm:t>
    </dgm:pt>
    <dgm:pt modelId="{9842F7E9-CEA8-4D2F-BC68-DB9DA9FCB1E3}" type="sibTrans" cxnId="{C7B61A7B-6005-4AAE-B0C3-91A0FD9C7730}">
      <dgm:prSet/>
      <dgm:spPr/>
      <dgm:t>
        <a:bodyPr/>
        <a:lstStyle/>
        <a:p>
          <a:endParaRPr lang="en-IN"/>
        </a:p>
      </dgm:t>
    </dgm:pt>
    <dgm:pt modelId="{0DCE03D6-6CEC-4110-88B3-46D78566618D}" type="parTrans" cxnId="{C7B61A7B-6005-4AAE-B0C3-91A0FD9C7730}">
      <dgm:prSet/>
      <dgm:spPr/>
      <dgm:t>
        <a:bodyPr/>
        <a:lstStyle/>
        <a:p>
          <a:endParaRPr lang="en-IN"/>
        </a:p>
      </dgm:t>
    </dgm:pt>
    <dgm:pt modelId="{034E36ED-33B1-4533-8C45-E50C6E54691F}">
      <dgm:prSet phldrT="[Text]" custT="1"/>
      <dgm:spPr/>
      <dgm:t>
        <a:bodyPr/>
        <a:lstStyle/>
        <a:p>
          <a:endParaRPr lang="en-IN" sz="1200" dirty="0"/>
        </a:p>
      </dgm:t>
    </dgm:pt>
    <dgm:pt modelId="{06E8178A-9E41-4AFA-842F-3CCD38602078}" type="parTrans" cxnId="{8896D9C3-56C6-4BA1-A4BC-08203A54090B}">
      <dgm:prSet/>
      <dgm:spPr/>
      <dgm:t>
        <a:bodyPr/>
        <a:lstStyle/>
        <a:p>
          <a:endParaRPr lang="en-US"/>
        </a:p>
      </dgm:t>
    </dgm:pt>
    <dgm:pt modelId="{DD73D458-CDB6-4D69-829A-F3052626CA63}" type="sibTrans" cxnId="{8896D9C3-56C6-4BA1-A4BC-08203A54090B}">
      <dgm:prSet/>
      <dgm:spPr/>
      <dgm:t>
        <a:bodyPr/>
        <a:lstStyle/>
        <a:p>
          <a:endParaRPr lang="en-US"/>
        </a:p>
      </dgm:t>
    </dgm:pt>
    <dgm:pt modelId="{B43F61CC-A86F-428D-B793-CF90FE7BF941}">
      <dgm:prSet phldrT="[Text]" custT="1"/>
      <dgm:spPr/>
      <dgm:t>
        <a:bodyPr/>
        <a:lstStyle/>
        <a:p>
          <a:r>
            <a:rPr lang="en-IN" sz="1600" dirty="0"/>
            <a:t>Curing Comparison </a:t>
          </a:r>
        </a:p>
      </dgm:t>
    </dgm:pt>
    <dgm:pt modelId="{9E9EF8A1-06E2-415A-8E50-6F5D55CEAFEE}" type="parTrans" cxnId="{5D38FC0D-F7BA-40E8-ACEA-4235DB04AC59}">
      <dgm:prSet/>
      <dgm:spPr/>
      <dgm:t>
        <a:bodyPr/>
        <a:lstStyle/>
        <a:p>
          <a:endParaRPr lang="en-US"/>
        </a:p>
      </dgm:t>
    </dgm:pt>
    <dgm:pt modelId="{4E7862B0-E5AB-4B01-BF45-EA8E8BD2D05F}" type="sibTrans" cxnId="{5D38FC0D-F7BA-40E8-ACEA-4235DB04AC59}">
      <dgm:prSet/>
      <dgm:spPr/>
      <dgm:t>
        <a:bodyPr/>
        <a:lstStyle/>
        <a:p>
          <a:endParaRPr lang="en-US"/>
        </a:p>
      </dgm:t>
    </dgm:pt>
    <dgm:pt modelId="{1A3D4A30-4D27-4FA2-9CBD-4E114414E515}">
      <dgm:prSet phldrT="[Text]" custT="1"/>
      <dgm:spPr/>
      <dgm:t>
        <a:bodyPr/>
        <a:lstStyle/>
        <a:p>
          <a:endParaRPr lang="en-IN" sz="1200" dirty="0"/>
        </a:p>
      </dgm:t>
    </dgm:pt>
    <dgm:pt modelId="{F470C067-4AC6-4760-9C34-049F15AC026B}" type="parTrans" cxnId="{5E018D95-2180-4D7F-AC81-7CCB586DE251}">
      <dgm:prSet/>
      <dgm:spPr/>
      <dgm:t>
        <a:bodyPr/>
        <a:lstStyle/>
        <a:p>
          <a:endParaRPr lang="en-US"/>
        </a:p>
      </dgm:t>
    </dgm:pt>
    <dgm:pt modelId="{6044120E-6C63-4598-9563-C0656D7B123A}" type="sibTrans" cxnId="{5E018D95-2180-4D7F-AC81-7CCB586DE251}">
      <dgm:prSet/>
      <dgm:spPr/>
      <dgm:t>
        <a:bodyPr/>
        <a:lstStyle/>
        <a:p>
          <a:endParaRPr lang="en-US"/>
        </a:p>
      </dgm:t>
    </dgm:pt>
    <dgm:pt modelId="{F98B354C-D204-4141-BCED-D7A776A0785C}">
      <dgm:prSet phldrT="[Text]" custT="1"/>
      <dgm:spPr/>
      <dgm:t>
        <a:bodyPr/>
        <a:lstStyle/>
        <a:p>
          <a:endParaRPr lang="en-IN" sz="1600" dirty="0"/>
        </a:p>
      </dgm:t>
    </dgm:pt>
    <dgm:pt modelId="{DA65C53B-C4DF-40D0-B446-3F07EB3D8209}" type="parTrans" cxnId="{1CDE6231-C020-4FE6-ADC3-75B45A0EDF02}">
      <dgm:prSet/>
      <dgm:spPr/>
      <dgm:t>
        <a:bodyPr/>
        <a:lstStyle/>
        <a:p>
          <a:endParaRPr lang="en-US"/>
        </a:p>
      </dgm:t>
    </dgm:pt>
    <dgm:pt modelId="{144BE72A-6CBA-454A-86C7-91CAB86A20AA}" type="sibTrans" cxnId="{1CDE6231-C020-4FE6-ADC3-75B45A0EDF02}">
      <dgm:prSet/>
      <dgm:spPr/>
      <dgm:t>
        <a:bodyPr/>
        <a:lstStyle/>
        <a:p>
          <a:endParaRPr lang="en-US"/>
        </a:p>
      </dgm:t>
    </dgm:pt>
    <dgm:pt modelId="{7F6DEF38-B37C-4EEE-AB15-8007DDE4503A}">
      <dgm:prSet custT="1"/>
      <dgm:spPr/>
      <dgm:t>
        <a:bodyPr/>
        <a:lstStyle/>
        <a:p>
          <a:r>
            <a:rPr lang="en-IN" sz="1600" dirty="0"/>
            <a:t>Machine Learning and predictive modelling</a:t>
          </a:r>
        </a:p>
      </dgm:t>
    </dgm:pt>
    <dgm:pt modelId="{9A6750D5-AE77-4F68-BB1E-8E184F23F958}" type="parTrans" cxnId="{DC6EAEEB-3BB5-4C3A-8EA9-BF7B8789316A}">
      <dgm:prSet/>
      <dgm:spPr/>
      <dgm:t>
        <a:bodyPr/>
        <a:lstStyle/>
        <a:p>
          <a:endParaRPr lang="en-US"/>
        </a:p>
      </dgm:t>
    </dgm:pt>
    <dgm:pt modelId="{55C08953-7C98-4787-BC8B-36C6C2D831C0}" type="sibTrans" cxnId="{DC6EAEEB-3BB5-4C3A-8EA9-BF7B8789316A}">
      <dgm:prSet/>
      <dgm:spPr/>
      <dgm:t>
        <a:bodyPr/>
        <a:lstStyle/>
        <a:p>
          <a:endParaRPr lang="en-US"/>
        </a:p>
      </dgm:t>
    </dgm:pt>
    <dgm:pt modelId="{B1480984-7C4E-48CA-91A0-B699ACD23A69}">
      <dgm:prSet custT="1"/>
      <dgm:spPr/>
      <dgm:t>
        <a:bodyPr/>
        <a:lstStyle/>
        <a:p>
          <a:r>
            <a:rPr lang="en-IN" sz="1600" dirty="0"/>
            <a:t>Report writing and final presentation</a:t>
          </a:r>
        </a:p>
      </dgm:t>
    </dgm:pt>
    <dgm:pt modelId="{7949C053-5300-4ED4-B064-FC0C5E876E4D}" type="parTrans" cxnId="{54234634-37C4-4011-A0F6-51A88527810E}">
      <dgm:prSet/>
      <dgm:spPr/>
      <dgm:t>
        <a:bodyPr/>
        <a:lstStyle/>
        <a:p>
          <a:endParaRPr lang="en-US"/>
        </a:p>
      </dgm:t>
    </dgm:pt>
    <dgm:pt modelId="{248F8182-E5D4-4B6B-A00D-D9C6BCF3954E}" type="sibTrans" cxnId="{54234634-37C4-4011-A0F6-51A88527810E}">
      <dgm:prSet/>
      <dgm:spPr/>
      <dgm:t>
        <a:bodyPr/>
        <a:lstStyle/>
        <a:p>
          <a:endParaRPr lang="en-US"/>
        </a:p>
      </dgm:t>
    </dgm:pt>
    <dgm:pt modelId="{0608C723-93F3-4B53-80AE-00147F056ACD}" type="pres">
      <dgm:prSet presAssocID="{DFEE1F9F-3BFD-48BC-BC2F-FB69D70039A5}" presName="linearFlow" presStyleCnt="0">
        <dgm:presLayoutVars>
          <dgm:dir/>
          <dgm:animLvl val="lvl"/>
          <dgm:resizeHandles val="exact"/>
        </dgm:presLayoutVars>
      </dgm:prSet>
      <dgm:spPr/>
    </dgm:pt>
    <dgm:pt modelId="{EEA4448C-4885-4BF7-A9E5-0E3585612023}" type="pres">
      <dgm:prSet presAssocID="{3E0A93F4-DE3E-49A8-A2CD-1CF1F319B3DA}" presName="composite" presStyleCnt="0"/>
      <dgm:spPr/>
    </dgm:pt>
    <dgm:pt modelId="{9BDF593F-E1CE-45FF-8A8E-B3A18A793384}" type="pres">
      <dgm:prSet presAssocID="{3E0A93F4-DE3E-49A8-A2CD-1CF1F319B3DA}" presName="parentText" presStyleLbl="alignNode1" presStyleIdx="0" presStyleCnt="4" custScaleX="146453" custLinFactNeighborX="-4113" custLinFactNeighborY="-13689">
        <dgm:presLayoutVars>
          <dgm:chMax val="1"/>
          <dgm:bulletEnabled val="1"/>
        </dgm:presLayoutVars>
      </dgm:prSet>
      <dgm:spPr>
        <a:prstGeom prst="rect">
          <a:avLst/>
        </a:prstGeom>
      </dgm:spPr>
    </dgm:pt>
    <dgm:pt modelId="{AA092289-DFBC-4E07-BC1F-1D8AB72EE7A4}" type="pres">
      <dgm:prSet presAssocID="{3E0A93F4-DE3E-49A8-A2CD-1CF1F319B3DA}" presName="descendantText" presStyleLbl="alignAcc1" presStyleIdx="0" presStyleCnt="4" custScaleX="91448" custScaleY="100000" custLinFactNeighborX="6985" custLinFactNeighborY="8832">
        <dgm:presLayoutVars>
          <dgm:bulletEnabled val="1"/>
        </dgm:presLayoutVars>
      </dgm:prSet>
      <dgm:spPr/>
    </dgm:pt>
    <dgm:pt modelId="{D7352652-0AC5-44B5-8061-D8E64C66D2D8}" type="pres">
      <dgm:prSet presAssocID="{CCBB88B1-E70F-4510-9EAE-3DB6F7138BA5}" presName="sp" presStyleCnt="0"/>
      <dgm:spPr/>
    </dgm:pt>
    <dgm:pt modelId="{758B7605-052B-418A-97B8-E6F51C6DAB7E}" type="pres">
      <dgm:prSet presAssocID="{992E3366-15AF-4DD8-A2D3-74594C35B053}" presName="composite" presStyleCnt="0"/>
      <dgm:spPr/>
    </dgm:pt>
    <dgm:pt modelId="{5EE32A15-78F0-410C-AE14-4A52D9FEB597}" type="pres">
      <dgm:prSet presAssocID="{992E3366-15AF-4DD8-A2D3-74594C35B053}" presName="parentText" presStyleLbl="alignNode1" presStyleIdx="1" presStyleCnt="4" custScaleX="149488" custScaleY="113104" custLinFactNeighborX="-4113" custLinFactNeighborY="7201">
        <dgm:presLayoutVars>
          <dgm:chMax val="1"/>
          <dgm:bulletEnabled val="1"/>
        </dgm:presLayoutVars>
      </dgm:prSet>
      <dgm:spPr>
        <a:prstGeom prst="rect">
          <a:avLst/>
        </a:prstGeom>
      </dgm:spPr>
    </dgm:pt>
    <dgm:pt modelId="{1D619771-DCF2-4C18-B455-B1467CC8E8BE}" type="pres">
      <dgm:prSet presAssocID="{992E3366-15AF-4DD8-A2D3-74594C35B053}" presName="descendantText" presStyleLbl="alignAcc1" presStyleIdx="1" presStyleCnt="4" custScaleX="91083" custScaleY="110906" custLinFactNeighborX="556" custLinFactNeighborY="29069">
        <dgm:presLayoutVars>
          <dgm:bulletEnabled val="1"/>
        </dgm:presLayoutVars>
      </dgm:prSet>
      <dgm:spPr/>
    </dgm:pt>
    <dgm:pt modelId="{F409E1DA-30CB-4FAF-AB52-8174542C4A73}" type="pres">
      <dgm:prSet presAssocID="{9842F7E9-CEA8-4D2F-BC68-DB9DA9FCB1E3}" presName="sp" presStyleCnt="0"/>
      <dgm:spPr/>
    </dgm:pt>
    <dgm:pt modelId="{B52A03DC-4929-4F27-B6FB-B6746D8B96E4}" type="pres">
      <dgm:prSet presAssocID="{D4F08288-D8F2-4FA5-A067-DA648001075D}" presName="composite" presStyleCnt="0"/>
      <dgm:spPr/>
    </dgm:pt>
    <dgm:pt modelId="{853A676D-AD23-41BB-A983-0B4D83F9FB7A}" type="pres">
      <dgm:prSet presAssocID="{D4F08288-D8F2-4FA5-A067-DA648001075D}" presName="parentText" presStyleLbl="alignNode1" presStyleIdx="2" presStyleCnt="4" custScaleX="155455" custScaleY="121097" custLinFactNeighborX="-3886" custLinFactNeighborY="-8624">
        <dgm:presLayoutVars>
          <dgm:chMax val="1"/>
          <dgm:bulletEnabled val="1"/>
        </dgm:presLayoutVars>
      </dgm:prSet>
      <dgm:spPr>
        <a:prstGeom prst="rect">
          <a:avLst/>
        </a:prstGeom>
      </dgm:spPr>
    </dgm:pt>
    <dgm:pt modelId="{7CBE2A32-A871-452D-B892-B318C3B49D54}" type="pres">
      <dgm:prSet presAssocID="{D4F08288-D8F2-4FA5-A067-DA648001075D}" presName="descendantText" presStyleLbl="alignAcc1" presStyleIdx="2" presStyleCnt="4" custScaleX="90399" custScaleY="254170" custLinFactNeighborX="526" custLinFactNeighborY="6635">
        <dgm:presLayoutVars>
          <dgm:bulletEnabled val="1"/>
        </dgm:presLayoutVars>
      </dgm:prSet>
      <dgm:spPr/>
    </dgm:pt>
    <dgm:pt modelId="{A5974D0C-6199-4C73-9EC4-00665CE4E619}" type="pres">
      <dgm:prSet presAssocID="{9997BA30-3763-4D0A-B9E8-D52B4FA028D9}" presName="sp" presStyleCnt="0"/>
      <dgm:spPr/>
    </dgm:pt>
    <dgm:pt modelId="{C00805FB-B57D-4F39-ACC3-E3F3DFEA4D4F}" type="pres">
      <dgm:prSet presAssocID="{0FE51811-C1DD-490C-8A04-60CCDFFCEA3C}" presName="composite" presStyleCnt="0"/>
      <dgm:spPr/>
    </dgm:pt>
    <dgm:pt modelId="{F163EFA8-8F02-46C9-8FDA-D9E85B859A01}" type="pres">
      <dgm:prSet presAssocID="{0FE51811-C1DD-490C-8A04-60CCDFFCEA3C}" presName="parentText" presStyleLbl="alignNode1" presStyleIdx="3" presStyleCnt="4" custScaleX="148076" custScaleY="100709" custLinFactNeighborX="653" custLinFactNeighborY="46344">
        <dgm:presLayoutVars>
          <dgm:chMax val="1"/>
          <dgm:bulletEnabled val="1"/>
        </dgm:presLayoutVars>
      </dgm:prSet>
      <dgm:spPr>
        <a:prstGeom prst="rect">
          <a:avLst/>
        </a:prstGeom>
      </dgm:spPr>
    </dgm:pt>
    <dgm:pt modelId="{C03A3912-E41A-49F9-B596-9BFBEF782BF4}" type="pres">
      <dgm:prSet presAssocID="{0FE51811-C1DD-490C-8A04-60CCDFFCEA3C}" presName="descendantText" presStyleLbl="alignAcc1" presStyleIdx="3" presStyleCnt="4" custScaleX="90490" custLinFactNeighborX="979" custLinFactNeighborY="54836">
        <dgm:presLayoutVars>
          <dgm:bulletEnabled val="1"/>
        </dgm:presLayoutVars>
      </dgm:prSet>
      <dgm:spPr/>
    </dgm:pt>
  </dgm:ptLst>
  <dgm:cxnLst>
    <dgm:cxn modelId="{5D38FC0D-F7BA-40E8-ACEA-4235DB04AC59}" srcId="{D4F08288-D8F2-4FA5-A067-DA648001075D}" destId="{B43F61CC-A86F-428D-B793-CF90FE7BF941}" srcOrd="3" destOrd="0" parTransId="{9E9EF8A1-06E2-415A-8E50-6F5D55CEAFEE}" sibTransId="{4E7862B0-E5AB-4B01-BF45-EA8E8BD2D05F}"/>
    <dgm:cxn modelId="{C54E5E19-C06D-450C-ADFA-90E80885368A}" srcId="{DFEE1F9F-3BFD-48BC-BC2F-FB69D70039A5}" destId="{0FE51811-C1DD-490C-8A04-60CCDFFCEA3C}" srcOrd="3" destOrd="0" parTransId="{FACCD086-8E96-4CC5-B505-72C11E34B382}" sibTransId="{081F7A97-174D-4028-8B8B-B86700D4E08A}"/>
    <dgm:cxn modelId="{B378C21A-037B-4825-91DD-CC38F7228ABA}" type="presOf" srcId="{98E29849-5E3F-402E-AEC6-0B5FC4EC2653}" destId="{7CBE2A32-A871-452D-B892-B318C3B49D54}" srcOrd="0" destOrd="1" presId="urn:microsoft.com/office/officeart/2005/8/layout/chevron2"/>
    <dgm:cxn modelId="{7D432D27-012E-46A4-8958-3354C57F543D}" srcId="{D4F08288-D8F2-4FA5-A067-DA648001075D}" destId="{F7C6E95C-A89F-47DC-B23C-3ACBA7CDE10A}" srcOrd="5" destOrd="0" parTransId="{249CA432-27DC-4DB7-932F-0FE40FBC658C}" sibTransId="{03D41113-41BD-4964-8F45-46B8BA872816}"/>
    <dgm:cxn modelId="{16373027-B2E5-4FBC-A2BE-280B6E9C4D12}" srcId="{3E0A93F4-DE3E-49A8-A2CD-1CF1F319B3DA}" destId="{EFBBC6B3-9485-4573-A585-9EE6AE65DE0A}" srcOrd="0" destOrd="0" parTransId="{10EC5FF0-1AC4-4ADD-8184-A7EA5FED7572}" sibTransId="{549520A5-BCC4-4A9F-B539-3163B64F3DE8}"/>
    <dgm:cxn modelId="{90E94B29-403C-4B7C-B98C-C4ECAD71101F}" srcId="{6E242531-7928-4357-86D5-20DB2672AE4A}" destId="{BA3AE9CB-A2E6-4FA7-ACE1-730DD0106609}" srcOrd="0" destOrd="0" parTransId="{CFEA86C5-4BE3-47CA-80B6-57D64591201D}" sibTransId="{314844F8-8E6A-4F83-B4D9-D666F74DA07B}"/>
    <dgm:cxn modelId="{8EB9412A-10DD-4D4D-8957-7F3D9F0C3A8C}" type="presOf" srcId="{B483520E-C5DA-46B4-8F24-3A8367F4F64F}" destId="{1D619771-DCF2-4C18-B455-B1467CC8E8BE}" srcOrd="0" destOrd="0" presId="urn:microsoft.com/office/officeart/2005/8/layout/chevron2"/>
    <dgm:cxn modelId="{1CDE6231-C020-4FE6-ADC3-75B45A0EDF02}" srcId="{D4F08288-D8F2-4FA5-A067-DA648001075D}" destId="{F98B354C-D204-4141-BCED-D7A776A0785C}" srcOrd="4" destOrd="0" parTransId="{DA65C53B-C4DF-40D0-B446-3F07EB3D8209}" sibTransId="{144BE72A-6CBA-454A-86C7-91CAB86A20AA}"/>
    <dgm:cxn modelId="{54234634-37C4-4011-A0F6-51A88527810E}" srcId="{0FE51811-C1DD-490C-8A04-60CCDFFCEA3C}" destId="{B1480984-7C4E-48CA-91A0-B699ACD23A69}" srcOrd="2" destOrd="0" parTransId="{7949C053-5300-4ED4-B064-FC0C5E876E4D}" sibTransId="{248F8182-E5D4-4B6B-A00D-D9C6BCF3954E}"/>
    <dgm:cxn modelId="{FFDD3F65-48DA-46D2-A716-52E9EE9AADE7}" type="presOf" srcId="{6E242531-7928-4357-86D5-20DB2672AE4A}" destId="{7CBE2A32-A871-452D-B892-B318C3B49D54}" srcOrd="0" destOrd="4" presId="urn:microsoft.com/office/officeart/2005/8/layout/chevron2"/>
    <dgm:cxn modelId="{62604668-A333-44E6-9634-DA961518AC58}" type="presOf" srcId="{81E2812A-5E62-409E-8ADA-8AE66E7DC4FF}" destId="{7CBE2A32-A871-452D-B892-B318C3B49D54}" srcOrd="0" destOrd="2" presId="urn:microsoft.com/office/officeart/2005/8/layout/chevron2"/>
    <dgm:cxn modelId="{1C6E694B-0F94-4FCA-B3A3-C39F97F9843B}" srcId="{D4F08288-D8F2-4FA5-A067-DA648001075D}" destId="{6E242531-7928-4357-86D5-20DB2672AE4A}" srcOrd="2" destOrd="0" parTransId="{2DCE09AF-5E2B-450B-B462-95E8A5349F32}" sibTransId="{2CD708A1-0AFC-4EDE-880F-C54111EFF020}"/>
    <dgm:cxn modelId="{F4B2494B-B0A6-49EF-A97B-C13DDA7419ED}" srcId="{DFEE1F9F-3BFD-48BC-BC2F-FB69D70039A5}" destId="{D4F08288-D8F2-4FA5-A067-DA648001075D}" srcOrd="2" destOrd="0" parTransId="{40F06D76-A5D6-47A7-A161-F7EB17C80E07}" sibTransId="{9997BA30-3763-4D0A-B9E8-D52B4FA028D9}"/>
    <dgm:cxn modelId="{AE10246D-F31A-42D0-B480-6393564A4165}" type="presOf" srcId="{0FE51811-C1DD-490C-8A04-60CCDFFCEA3C}" destId="{F163EFA8-8F02-46C9-8FDA-D9E85B859A01}" srcOrd="0" destOrd="0" presId="urn:microsoft.com/office/officeart/2005/8/layout/chevron2"/>
    <dgm:cxn modelId="{AC78C64D-5F37-4102-8B3D-7289837DC11E}" type="presOf" srcId="{034E36ED-33B1-4533-8C45-E50C6E54691F}" destId="{7CBE2A32-A871-452D-B892-B318C3B49D54}" srcOrd="0" destOrd="3" presId="urn:microsoft.com/office/officeart/2005/8/layout/chevron2"/>
    <dgm:cxn modelId="{757D3F57-F4F0-46D0-BBA6-26C818DEB801}" type="presOf" srcId="{3E0A93F4-DE3E-49A8-A2CD-1CF1F319B3DA}" destId="{9BDF593F-E1CE-45FF-8A8E-B3A18A793384}" srcOrd="0" destOrd="0" presId="urn:microsoft.com/office/officeart/2005/8/layout/chevron2"/>
    <dgm:cxn modelId="{C7B61A7B-6005-4AAE-B0C3-91A0FD9C7730}" srcId="{DFEE1F9F-3BFD-48BC-BC2F-FB69D70039A5}" destId="{992E3366-15AF-4DD8-A2D3-74594C35B053}" srcOrd="1" destOrd="0" parTransId="{0DCE03D6-6CEC-4110-88B3-46D78566618D}" sibTransId="{9842F7E9-CEA8-4D2F-BC68-DB9DA9FCB1E3}"/>
    <dgm:cxn modelId="{E6C58D7E-3057-4F89-AFC9-9B83134869F9}" type="presOf" srcId="{F7C6E95C-A89F-47DC-B23C-3ACBA7CDE10A}" destId="{7CBE2A32-A871-452D-B892-B318C3B49D54}" srcOrd="0" destOrd="9" presId="urn:microsoft.com/office/officeart/2005/8/layout/chevron2"/>
    <dgm:cxn modelId="{C9AC478C-6B63-49AF-8E75-34C7DBC54897}" srcId="{992E3366-15AF-4DD8-A2D3-74594C35B053}" destId="{B483520E-C5DA-46B4-8F24-3A8367F4F64F}" srcOrd="0" destOrd="0" parTransId="{45E56BAD-B70E-4F32-A680-F427D14706E6}" sibTransId="{9D7264D3-CAD0-4786-B3EF-700D2828B81E}"/>
    <dgm:cxn modelId="{FF10898C-2201-48B0-A7AC-81571DA6A18C}" type="presOf" srcId="{BA3AE9CB-A2E6-4FA7-ACE1-730DD0106609}" destId="{7CBE2A32-A871-452D-B892-B318C3B49D54}" srcOrd="0" destOrd="5" presId="urn:microsoft.com/office/officeart/2005/8/layout/chevron2"/>
    <dgm:cxn modelId="{75CAD48D-ACB6-4DB9-93CA-2F6BC5D971B3}" type="presOf" srcId="{F98B354C-D204-4141-BCED-D7A776A0785C}" destId="{7CBE2A32-A871-452D-B892-B318C3B49D54}" srcOrd="0" destOrd="8" presId="urn:microsoft.com/office/officeart/2005/8/layout/chevron2"/>
    <dgm:cxn modelId="{626A2A94-8332-4A02-90A2-5DCEC213409C}" srcId="{0FE51811-C1DD-490C-8A04-60CCDFFCEA3C}" destId="{70B16926-67D9-4A8E-8974-FA37CCC12557}" srcOrd="0" destOrd="0" parTransId="{467CA3F5-678F-44DE-9FB4-DA82F5C21A37}" sibTransId="{6FE79E80-11C5-4F85-9AF9-9A86E1A00672}"/>
    <dgm:cxn modelId="{88D52D95-2F51-4698-9E64-15ABA1B6DA00}" type="presOf" srcId="{B1480984-7C4E-48CA-91A0-B699ACD23A69}" destId="{C03A3912-E41A-49F9-B596-9BFBEF782BF4}" srcOrd="0" destOrd="2" presId="urn:microsoft.com/office/officeart/2005/8/layout/chevron2"/>
    <dgm:cxn modelId="{5E018D95-2180-4D7F-AC81-7CCB586DE251}" srcId="{6E242531-7928-4357-86D5-20DB2672AE4A}" destId="{1A3D4A30-4D27-4FA2-9CBD-4E114414E515}" srcOrd="1" destOrd="0" parTransId="{F470C067-4AC6-4760-9C34-049F15AC026B}" sibTransId="{6044120E-6C63-4598-9563-C0656D7B123A}"/>
    <dgm:cxn modelId="{08AF8799-7819-47A1-BDF0-ED09F03B4155}" type="presOf" srcId="{EFBBC6B3-9485-4573-A585-9EE6AE65DE0A}" destId="{AA092289-DFBC-4E07-BC1F-1D8AB72EE7A4}" srcOrd="0" destOrd="0" presId="urn:microsoft.com/office/officeart/2005/8/layout/chevron2"/>
    <dgm:cxn modelId="{8FB089A2-77BD-4611-BBA2-76B915850F83}" type="presOf" srcId="{70B16926-67D9-4A8E-8974-FA37CCC12557}" destId="{C03A3912-E41A-49F9-B596-9BFBEF782BF4}" srcOrd="0" destOrd="0" presId="urn:microsoft.com/office/officeart/2005/8/layout/chevron2"/>
    <dgm:cxn modelId="{A1FF06B4-B856-4F07-9C37-678ED3157047}" type="presOf" srcId="{B67C15E1-AE1C-44C2-AE45-24F2DBA09139}" destId="{7CBE2A32-A871-452D-B892-B318C3B49D54}" srcOrd="0" destOrd="0" presId="urn:microsoft.com/office/officeart/2005/8/layout/chevron2"/>
    <dgm:cxn modelId="{8ED247B7-1703-4858-9A7C-6CE71491377D}" srcId="{D4F08288-D8F2-4FA5-A067-DA648001075D}" destId="{98E29849-5E3F-402E-AEC6-0B5FC4EC2653}" srcOrd="1" destOrd="0" parTransId="{CBC412CC-CF24-47CE-B3CB-E4A71511AAFE}" sibTransId="{801E232D-B1D9-4315-B5B2-5933A563703C}"/>
    <dgm:cxn modelId="{B7A9E7BC-8278-4103-BC54-A2DD991D4F1A}" type="presOf" srcId="{DFEE1F9F-3BFD-48BC-BC2F-FB69D70039A5}" destId="{0608C723-93F3-4B53-80AE-00147F056ACD}" srcOrd="0" destOrd="0" presId="urn:microsoft.com/office/officeart/2005/8/layout/chevron2"/>
    <dgm:cxn modelId="{8896D9C3-56C6-4BA1-A4BC-08203A54090B}" srcId="{98E29849-5E3F-402E-AEC6-0B5FC4EC2653}" destId="{034E36ED-33B1-4533-8C45-E50C6E54691F}" srcOrd="1" destOrd="0" parTransId="{06E8178A-9E41-4AFA-842F-3CCD38602078}" sibTransId="{DD73D458-CDB6-4D69-829A-F3052626CA63}"/>
    <dgm:cxn modelId="{CD9761C7-A023-4B02-9B77-BB94DB0070C6}" type="presOf" srcId="{B43F61CC-A86F-428D-B793-CF90FE7BF941}" destId="{7CBE2A32-A871-452D-B892-B318C3B49D54}" srcOrd="0" destOrd="7" presId="urn:microsoft.com/office/officeart/2005/8/layout/chevron2"/>
    <dgm:cxn modelId="{165E6AD0-6DAA-4775-9E4C-B9989E792DD8}" type="presOf" srcId="{D4F08288-D8F2-4FA5-A067-DA648001075D}" destId="{853A676D-AD23-41BB-A983-0B4D83F9FB7A}" srcOrd="0" destOrd="0" presId="urn:microsoft.com/office/officeart/2005/8/layout/chevron2"/>
    <dgm:cxn modelId="{E657FAD1-1F73-44DB-9D5C-96395F42B312}" srcId="{98E29849-5E3F-402E-AEC6-0B5FC4EC2653}" destId="{81E2812A-5E62-409E-8ADA-8AE66E7DC4FF}" srcOrd="0" destOrd="0" parTransId="{F639BCDC-F15A-477A-8C9F-FFE0457C7218}" sibTransId="{01175DF5-BCE3-4AB8-919E-CBFB3E0D60A4}"/>
    <dgm:cxn modelId="{EEC9DFD2-0058-471E-873D-CB9ED199103E}" type="presOf" srcId="{7F6DEF38-B37C-4EEE-AB15-8007DDE4503A}" destId="{C03A3912-E41A-49F9-B596-9BFBEF782BF4}" srcOrd="0" destOrd="1" presId="urn:microsoft.com/office/officeart/2005/8/layout/chevron2"/>
    <dgm:cxn modelId="{FAF6CBE0-0D2C-407B-8A7E-ADA1F40C9303}" type="presOf" srcId="{992E3366-15AF-4DD8-A2D3-74594C35B053}" destId="{5EE32A15-78F0-410C-AE14-4A52D9FEB597}" srcOrd="0" destOrd="0" presId="urn:microsoft.com/office/officeart/2005/8/layout/chevron2"/>
    <dgm:cxn modelId="{8054E2E4-9947-4FE7-8E56-1BBF39607DCA}" srcId="{D4F08288-D8F2-4FA5-A067-DA648001075D}" destId="{B67C15E1-AE1C-44C2-AE45-24F2DBA09139}" srcOrd="0" destOrd="0" parTransId="{FBF88B07-34D5-48A1-93AF-2ABE7410FF5D}" sibTransId="{D157E3CC-273F-4DC0-9FAC-FD29928C5D6D}"/>
    <dgm:cxn modelId="{CE4208E9-BBF9-4915-9460-0ABD94D1342A}" srcId="{DFEE1F9F-3BFD-48BC-BC2F-FB69D70039A5}" destId="{3E0A93F4-DE3E-49A8-A2CD-1CF1F319B3DA}" srcOrd="0" destOrd="0" parTransId="{4869D20E-C52C-438E-BA54-002FE4063E5B}" sibTransId="{CCBB88B1-E70F-4510-9EAE-3DB6F7138BA5}"/>
    <dgm:cxn modelId="{DC6EAEEB-3BB5-4C3A-8EA9-BF7B8789316A}" srcId="{0FE51811-C1DD-490C-8A04-60CCDFFCEA3C}" destId="{7F6DEF38-B37C-4EEE-AB15-8007DDE4503A}" srcOrd="1" destOrd="0" parTransId="{9A6750D5-AE77-4F68-BB1E-8E184F23F958}" sibTransId="{55C08953-7C98-4787-BC8B-36C6C2D831C0}"/>
    <dgm:cxn modelId="{E05024F1-74A8-48C7-8200-A6F906E71437}" type="presOf" srcId="{1A3D4A30-4D27-4FA2-9CBD-4E114414E515}" destId="{7CBE2A32-A871-452D-B892-B318C3B49D54}" srcOrd="0" destOrd="6" presId="urn:microsoft.com/office/officeart/2005/8/layout/chevron2"/>
    <dgm:cxn modelId="{4B7E3B98-AB4B-4236-97B5-BC0F09C93ED2}" type="presParOf" srcId="{0608C723-93F3-4B53-80AE-00147F056ACD}" destId="{EEA4448C-4885-4BF7-A9E5-0E3585612023}" srcOrd="0" destOrd="0" presId="urn:microsoft.com/office/officeart/2005/8/layout/chevron2"/>
    <dgm:cxn modelId="{CF7A2D8F-31D1-403E-8A52-ACE6FA100351}" type="presParOf" srcId="{EEA4448C-4885-4BF7-A9E5-0E3585612023}" destId="{9BDF593F-E1CE-45FF-8A8E-B3A18A793384}" srcOrd="0" destOrd="0" presId="urn:microsoft.com/office/officeart/2005/8/layout/chevron2"/>
    <dgm:cxn modelId="{2B201CC0-602C-42B3-A091-7DDF35E00917}" type="presParOf" srcId="{EEA4448C-4885-4BF7-A9E5-0E3585612023}" destId="{AA092289-DFBC-4E07-BC1F-1D8AB72EE7A4}" srcOrd="1" destOrd="0" presId="urn:microsoft.com/office/officeart/2005/8/layout/chevron2"/>
    <dgm:cxn modelId="{E80D5603-F8FD-454C-8D0B-C4B968A3A6CE}" type="presParOf" srcId="{0608C723-93F3-4B53-80AE-00147F056ACD}" destId="{D7352652-0AC5-44B5-8061-D8E64C66D2D8}" srcOrd="1" destOrd="0" presId="urn:microsoft.com/office/officeart/2005/8/layout/chevron2"/>
    <dgm:cxn modelId="{1A291A24-5EC3-433A-BBF8-41E191E543EC}" type="presParOf" srcId="{0608C723-93F3-4B53-80AE-00147F056ACD}" destId="{758B7605-052B-418A-97B8-E6F51C6DAB7E}" srcOrd="2" destOrd="0" presId="urn:microsoft.com/office/officeart/2005/8/layout/chevron2"/>
    <dgm:cxn modelId="{84A82B7F-FBAC-4043-81F0-4047635E5ECC}" type="presParOf" srcId="{758B7605-052B-418A-97B8-E6F51C6DAB7E}" destId="{5EE32A15-78F0-410C-AE14-4A52D9FEB597}" srcOrd="0" destOrd="0" presId="urn:microsoft.com/office/officeart/2005/8/layout/chevron2"/>
    <dgm:cxn modelId="{DD0681E3-D3D7-4C54-9362-8F99C751183A}" type="presParOf" srcId="{758B7605-052B-418A-97B8-E6F51C6DAB7E}" destId="{1D619771-DCF2-4C18-B455-B1467CC8E8BE}" srcOrd="1" destOrd="0" presId="urn:microsoft.com/office/officeart/2005/8/layout/chevron2"/>
    <dgm:cxn modelId="{A890034E-CED2-4993-8003-E5B471063879}" type="presParOf" srcId="{0608C723-93F3-4B53-80AE-00147F056ACD}" destId="{F409E1DA-30CB-4FAF-AB52-8174542C4A73}" srcOrd="3" destOrd="0" presId="urn:microsoft.com/office/officeart/2005/8/layout/chevron2"/>
    <dgm:cxn modelId="{C3BCB1D2-5D60-4386-826C-41774F02389A}" type="presParOf" srcId="{0608C723-93F3-4B53-80AE-00147F056ACD}" destId="{B52A03DC-4929-4F27-B6FB-B6746D8B96E4}" srcOrd="4" destOrd="0" presId="urn:microsoft.com/office/officeart/2005/8/layout/chevron2"/>
    <dgm:cxn modelId="{3C30662A-5289-4BC9-B986-DE2F3176180C}" type="presParOf" srcId="{B52A03DC-4929-4F27-B6FB-B6746D8B96E4}" destId="{853A676D-AD23-41BB-A983-0B4D83F9FB7A}" srcOrd="0" destOrd="0" presId="urn:microsoft.com/office/officeart/2005/8/layout/chevron2"/>
    <dgm:cxn modelId="{C1E81D81-A0A9-4A67-AB79-276065953B11}" type="presParOf" srcId="{B52A03DC-4929-4F27-B6FB-B6746D8B96E4}" destId="{7CBE2A32-A871-452D-B892-B318C3B49D54}" srcOrd="1" destOrd="0" presId="urn:microsoft.com/office/officeart/2005/8/layout/chevron2"/>
    <dgm:cxn modelId="{24D9E9FA-4E74-4BD8-86BC-DDD6EBA99722}" type="presParOf" srcId="{0608C723-93F3-4B53-80AE-00147F056ACD}" destId="{A5974D0C-6199-4C73-9EC4-00665CE4E619}" srcOrd="5" destOrd="0" presId="urn:microsoft.com/office/officeart/2005/8/layout/chevron2"/>
    <dgm:cxn modelId="{EC3393D2-DD95-40DC-823F-41F12E974D48}" type="presParOf" srcId="{0608C723-93F3-4B53-80AE-00147F056ACD}" destId="{C00805FB-B57D-4F39-ACC3-E3F3DFEA4D4F}" srcOrd="6" destOrd="0" presId="urn:microsoft.com/office/officeart/2005/8/layout/chevron2"/>
    <dgm:cxn modelId="{C235A72F-77C3-4540-9848-114260914EBA}" type="presParOf" srcId="{C00805FB-B57D-4F39-ACC3-E3F3DFEA4D4F}" destId="{F163EFA8-8F02-46C9-8FDA-D9E85B859A01}" srcOrd="0" destOrd="0" presId="urn:microsoft.com/office/officeart/2005/8/layout/chevron2"/>
    <dgm:cxn modelId="{4A00B25E-E506-4221-87FE-71557827B451}" type="presParOf" srcId="{C00805FB-B57D-4F39-ACC3-E3F3DFEA4D4F}" destId="{C03A3912-E41A-49F9-B596-9BFBEF782BF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F593F-E1CE-45FF-8A8E-B3A18A793384}">
      <dsp:nvSpPr>
        <dsp:cNvPr id="0" name=""/>
        <dsp:cNvSpPr/>
      </dsp:nvSpPr>
      <dsp:spPr>
        <a:xfrm rot="5400000">
          <a:off x="14827" y="-14827"/>
          <a:ext cx="1178160" cy="12078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Literature Review</a:t>
          </a:r>
        </a:p>
      </dsp:txBody>
      <dsp:txXfrm rot="-5400000">
        <a:off x="-1" y="1"/>
        <a:ext cx="1207816" cy="1178160"/>
      </dsp:txXfrm>
    </dsp:sp>
    <dsp:sp modelId="{AA092289-DFBC-4E07-BC1F-1D8AB72EE7A4}">
      <dsp:nvSpPr>
        <dsp:cNvPr id="0" name=""/>
        <dsp:cNvSpPr/>
      </dsp:nvSpPr>
      <dsp:spPr>
        <a:xfrm rot="5400000">
          <a:off x="3751936" y="-2176755"/>
          <a:ext cx="765804" cy="5577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Study previous literatures and formulate objectives based on research gaps</a:t>
          </a:r>
        </a:p>
      </dsp:txBody>
      <dsp:txXfrm rot="-5400000">
        <a:off x="1346273" y="266291"/>
        <a:ext cx="5539749" cy="691038"/>
      </dsp:txXfrm>
    </dsp:sp>
    <dsp:sp modelId="{5EE32A15-78F0-410C-AE14-4A52D9FEB597}">
      <dsp:nvSpPr>
        <dsp:cNvPr id="0" name=""/>
        <dsp:cNvSpPr/>
      </dsp:nvSpPr>
      <dsp:spPr>
        <a:xfrm rot="5400000">
          <a:off x="-49850" y="1362022"/>
          <a:ext cx="1332546" cy="12328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Mix Design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Preparation</a:t>
          </a:r>
        </a:p>
      </dsp:txBody>
      <dsp:txXfrm rot="-5400000">
        <a:off x="0" y="1312172"/>
        <a:ext cx="1232846" cy="1332546"/>
      </dsp:txXfrm>
    </dsp:sp>
    <dsp:sp modelId="{1D619771-DCF2-4C18-B455-B1467CC8E8BE}">
      <dsp:nvSpPr>
        <dsp:cNvPr id="0" name=""/>
        <dsp:cNvSpPr/>
      </dsp:nvSpPr>
      <dsp:spPr>
        <a:xfrm rot="5400000">
          <a:off x="3719420" y="-867396"/>
          <a:ext cx="849322" cy="55548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Prepare concrete mixes with varying water-cement ratio with different SAP dosage</a:t>
          </a:r>
        </a:p>
      </dsp:txBody>
      <dsp:txXfrm rot="-5400000">
        <a:off x="1366645" y="1526839"/>
        <a:ext cx="5513412" cy="766402"/>
      </dsp:txXfrm>
    </dsp:sp>
    <dsp:sp modelId="{853A676D-AD23-41BB-A983-0B4D83F9FB7A}">
      <dsp:nvSpPr>
        <dsp:cNvPr id="0" name=""/>
        <dsp:cNvSpPr/>
      </dsp:nvSpPr>
      <dsp:spPr>
        <a:xfrm rot="5400000">
          <a:off x="-72330" y="2884546"/>
          <a:ext cx="1426717" cy="12820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Experimental Testing </a:t>
          </a:r>
        </a:p>
      </dsp:txBody>
      <dsp:txXfrm rot="-5400000">
        <a:off x="0" y="2812216"/>
        <a:ext cx="1282056" cy="1426717"/>
      </dsp:txXfrm>
    </dsp:sp>
    <dsp:sp modelId="{7CBE2A32-A871-452D-B892-B318C3B49D54}">
      <dsp:nvSpPr>
        <dsp:cNvPr id="0" name=""/>
        <dsp:cNvSpPr/>
      </dsp:nvSpPr>
      <dsp:spPr>
        <a:xfrm rot="5400000">
          <a:off x="3193603" y="715233"/>
          <a:ext cx="1946444" cy="55131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 Fresh Concrete Property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 Workability (Slump Test)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2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Hardened Concrete Property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Strength (Compressive Strength Test)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2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Curing Comparison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 dirty="0"/>
        </a:p>
      </dsp:txBody>
      <dsp:txXfrm rot="-5400000">
        <a:off x="1410247" y="2593607"/>
        <a:ext cx="5418139" cy="1756408"/>
      </dsp:txXfrm>
    </dsp:sp>
    <dsp:sp modelId="{F163EFA8-8F02-46C9-8FDA-D9E85B859A01}">
      <dsp:nvSpPr>
        <dsp:cNvPr id="0" name=""/>
        <dsp:cNvSpPr/>
      </dsp:nvSpPr>
      <dsp:spPr>
        <a:xfrm rot="5400000">
          <a:off x="54776" y="4426052"/>
          <a:ext cx="1186513" cy="12212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Data Analysis &amp; Reporting</a:t>
          </a:r>
        </a:p>
      </dsp:txBody>
      <dsp:txXfrm rot="-5400000">
        <a:off x="37432" y="4443396"/>
        <a:ext cx="1221201" cy="1186513"/>
      </dsp:txXfrm>
    </dsp:sp>
    <dsp:sp modelId="{C03A3912-E41A-49F9-B596-9BFBEF782BF4}">
      <dsp:nvSpPr>
        <dsp:cNvPr id="0" name=""/>
        <dsp:cNvSpPr/>
      </dsp:nvSpPr>
      <dsp:spPr>
        <a:xfrm rot="5400000">
          <a:off x="3781149" y="2329784"/>
          <a:ext cx="765804" cy="55187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Data analysis and optimization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Machine Learning and predictive modelling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Report writing and final presentation</a:t>
          </a:r>
        </a:p>
      </dsp:txBody>
      <dsp:txXfrm rot="-5400000">
        <a:off x="1404699" y="4743618"/>
        <a:ext cx="5481323" cy="691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8:09:01.4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517 28 24575,'-1'4'0,"0"-1"0,-1 1 0,1-1 0,-1 1 0,0-1 0,0 0 0,0 1 0,0-1 0,0 0 0,-1-1 0,1 1 0,-1 0 0,0-1 0,-4 4 0,1 0 0,-5 2 0,1 0 0,-2 0 0,-20 10 0,-10 7 0,42-25 0,-1 0 0,1 0 0,0 0 0,0 0 0,-1 0 0,1 1 0,0-1 0,0 0 0,0 0 0,-1 0 0,1 0 0,0 0 0,0 1 0,0-1 0,0 0 0,-1 0 0,1 0 0,0 0 0,0 1 0,0-1 0,0 0 0,0 0 0,0 1 0,0-1 0,-1 0 0,1 0 0,0 0 0,0 1 0,0-1 0,0 0 0,0 0 0,0 1 0,0-1 0,0 0 0,0 0 0,0 1 0,0-1 0,1 0 0,-1 0 0,0 1 0,0-1 0,0 0 0,0 0 0,0 0 0,0 1 0,0-1 0,1 0 0,-1 0 0,0 0 0,0 0 0,1 1 0,17 5 0,25-2 0,514-5 0,-497-2 0,0-2 0,61-13 0,-121 18 0,0 0 0,0 0 0,0 0 0,0 0 0,-1 0 0,1 0 0,0 0 0,0 0 0,0 0 0,0 0 0,0 0 0,0 0 0,0 0 0,0 0 0,0 0 0,0 0 0,0 0 0,0 0 0,0 0 0,0-1 0,0 1 0,0 0 0,0 0 0,0 0 0,0 0 0,0 0 0,0 0 0,0 0 0,-1 0 0,1 0 0,0 0 0,0 0 0,0 0 0,0 0 0,0 0 0,0-1 0,0 1 0,1 0 0,-1 0 0,0 0 0,0 0 0,0 0 0,0 0 0,0 0 0,0 0 0,0 0 0,0 0 0,0 0 0,0 0 0,0 0 0,0 0 0,0 0 0,0-1 0,0 1 0,0 0 0,0 0 0,0 0 0,0 0 0,0 0 0,0 0 0,-11-4 0,-17-4 0,-28 1 0,-1 2 0,1 3 0,-61 5 0,-168 35 0,239-26 0,-53 19 0,54-15 0,30-10 0,15-6 0,0 1 0,0-1 0,0 0 0,0 0 0,0 0 0,-1 0 0,1 0 0,0 0 0,0 0 0,0 0 0,0 0 0,0 0 0,0 0 0,0 0 0,0 1 0,0-1 0,0 0 0,0 0 0,0 0 0,0 0 0,0 0 0,0 0 0,0 0 0,0 0 0,0 0 0,0 1 0,0-1 0,0 0 0,0 0 0,0 0 0,0 0 0,0 0 0,0 0 0,0 0 0,0 0 0,0 0 0,0 1 0,0-1 0,0 0 0,0 0 0,0 0 0,1 0 0,-1 0 0,0 0 0,0 0 0,0 0 0,0 0 0,0 0 0,0 0 0,0 0 0,0 0 0,0 0 0,0 0 0,1 0 0,-1 0 0,0 0 0,0 0 0,0 0 0,0 0 0,29 3 0,32-9 0,0-2 0,0-3 0,-1-3 0,106-38 0,-147 44 0,-18 4 0,-34 10 0,-267 108 0,111-37 0,114-46 0,75-31 0,-1 0 0,1 0 0,-1 0 0,1 0 0,-1 0 0,0 0 0,1 0 0,0 1 0,-1-1 0,1 0 0,-1 0 0,1 1 0,-1-1 0,1 0 0,-1 1 0,1-1 0,0 0 0,-1 1 0,1-1 0,0 1 0,-1-1 0,1 1 0,0-1 0,0 1 0,-1-1 0,1 1 0,0-1 0,0 1 0,0-1 0,0 1 0,0-1 0,-1 1 0,1-1 0,0 1 0,0-1 0,0 1 0,1-1 0,-1 1 0,0-1 0,0 1 0,0-1 0,0 1 0,0-1 0,1 1 0,-1-1 0,0 1 0,0-1 0,1 1 0,-1-1 0,0 1 0,1-1 0,-1 0 0,0 1 0,1-1 0,-1 1 0,1-1 0,-1 0 0,1 0 0,-1 1 0,0-1 0,1 0 0,-1 0 0,2 1 0,34 15 0,-35-16 0,51 15 0,1-2 0,1-2 0,95 6 0,167-11 0,-297-6 0,0-1 0,1-1 0,-1-1 0,37-11 0,-190 24 0,-128 24 0,82-10 0,159-21 0,0-1 0,-27-1 0,40-2 0,1 0 0,0 0 0,-1 0 0,1-1 0,0 0 0,0 0 0,0-1 0,0 0 0,-12-8 0,9 5 0,-1-1 0,0 0 0,0-1 0,1 0 0,-15-15 0,22 20 0,0-1 0,1 0 0,-1 0 0,1-1 0,-1 1 0,1 0 0,1-1 0,-1 1 0,1-1 0,-1 0 0,1 1 0,0-1 0,1 0 0,-1 0 0,1 0 0,1-4 0,0-9 0,2 0 0,0 0 0,7-22 0,6-35 0,-15 71 0,-1 1 0,0-1 0,0 0 0,-1 1 0,1-1 0,-1 1 0,1-1 0,-1 1 0,0-1 0,-1 1 0,1 0 0,0-1 0,-1 1 0,0 0 0,-3-5 0,1 3 0,-1 0 0,0 0 0,1 1 0,-2 0 0,1 0 0,0 0 0,-12-6 0,-1 2 0,-1 0 0,0 1 0,0 2 0,-33-7 0,32 9 0,-8-1 0,27 3 0,17 1 0,358-14 0,-247 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8:09:04.7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1598 0 24575,'-52'3'0,"1"2"0,-74 17 0,-36 3 0,146-24 0,11-1 0,-1 0 0,1 0 0,0 1 0,0-1 0,-1 1 0,1 0 0,0 0 0,0 0 0,0 1 0,0-1 0,0 1 0,-5 3 0,9-5 0,0 0 0,0 0 0,0 0 0,0 1 0,-1-1 0,1 0 0,0 0 0,0 0 0,0 1 0,0-1 0,0 0 0,0 0 0,0 0 0,0 1 0,0-1 0,0 0 0,0 0 0,0 0 0,0 1 0,0-1 0,0 0 0,1 0 0,-1 0 0,0 0 0,0 1 0,0-1 0,0 0 0,0 0 0,0 0 0,0 0 0,1 1 0,-1-1 0,0 0 0,0 0 0,0 0 0,0 0 0,0 0 0,1 0 0,-1 0 0,0 1 0,0-1 0,0 0 0,1 0 0,-1 0 0,0 0 0,0 0 0,0 0 0,1 0 0,-1 0 0,0 0 0,0 0 0,1 0 0,12 3 0,215 15 0,-144-13 0,236 6 0,-316-9 0,-13 2 0,-22 8 0,23-9 0,-136 43 0,-192 35 0,-158 2 0,411-70 0,-16-1 0,101-12 0,54-5 0,-52 5 0,1-1 0,-1 0 0,0 0 0,1-1 0,-1 1 0,0-1 0,0 0 0,0 0 0,0 0 0,5-4 0,-9 5 0,0 1 0,1 0 0,-1-1 0,1 1 0,-1 0 0,0-1 0,1 1 0,-1 0 0,0-1 0,0 1 0,1-1 0,-1 1 0,0 0 0,0-1 0,0 1 0,1-1 0,-1 1 0,0-1 0,0 1 0,0-1 0,0 1 0,0-1 0,0 1 0,0-1 0,0 1 0,0-1 0,0 1 0,0-1 0,-1 1 0,1-1 0,0 0 0,-14-10 0,-23-2 0,-33-2 0,-110-9 0,-74 11 0,218 12 0,-71-1 0,201-11 0,121-33 0,-135 26 0,-7 3 0,-25 3 0,1 4 0,0 1 0,85-4 0,-73 15 0,-50-1 0,-41-2 0,-181-11 0,-192-4 0,1197 1 0,-696 10 0,85-3 0,-646 29 0,-1 30 0,320-36 0,144-15 0,0 0 0,-1 0 0,1 0 0,-1 0 0,1 0 0,0-1 0,-1 1 0,1 0 0,-1 0 0,1 0 0,0 1 0,-1-1 0,1 0 0,-1 0 0,1 0 0,0 0 0,-1 0 0,1 0 0,0 0 0,-1 1 0,1-1 0,-1 0 0,1 0 0,0 1 0,0-1 0,-1 0 0,1 0 0,0 1 0,-1-1 0,1 0 0,0 1 0,11 6 0,31 5 0,29 1 168,128 6 0,77-16-1297,-230-3 557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8:09:09.7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1037 1 24575,'-807'0'0,"1554"0"0,-744 0 0,34 2 0,-37-2 0,1 0 0,-1 0 0,1 0 0,-1 0 0,0 0 0,1 0 0,-1 0 0,1 0 0,-1 0 0,1 0 0,-1 0 0,1 0 0,-1 0 0,0 1 0,1-1 0,-1 0 0,1 0 0,-1 0 0,0 1 0,1-1 0,-1 0 0,0 0 0,1 1 0,-1-1 0,0 0 0,0 1 0,1-1 0,-1 1 0,0-1 0,0 0 0,1 1 0,-1-1 0,0 1 0,0-1 0,0 0 0,0 1 0,0-1 0,0 1 0,0-1 0,0 1 0,0-1 0,0 0 0,0 1 0,0-1 0,0 1 0,0-1 0,0 1 0,0-1 0,0 1 0,0-1 0,-1 0 0,1 1 0,0-1 0,0 0 0,0 1 0,-1-1 0,1 1 0,0-1 0,-1 0 0,1 1 0,0-1 0,-1 0 0,1 0 0,0 1 0,-1-1 0,1 0 0,-1 0 0,1 0 0,-1 1 0,-12 7 0,0 0 0,-1-1 0,0-1 0,0 0 0,-1 0 0,-17 3 0,29-8 0,-269 72 0,36-12 0,-108 39 0,342-99 0,-4 0 0,1 0 0,-1 1 0,1 0 0,-1 0 0,-8 6 0,13-8 0,1 0 0,-1 1 0,1-1 0,-1 1 0,1-1 0,-1 1 0,1-1 0,0 1 0,-1-1 0,1 1 0,-1-1 0,1 1 0,0 0 0,0-1 0,-1 1 0,1-1 0,0 1 0,0 0 0,0-1 0,0 1 0,0 0 0,0 0 0,0 0 0,0 1 0,1-1 0,-1 0 0,1 1 0,0-1 0,-1 0 0,1 0 0,0 0 0,0 1 0,-1-1 0,1 0 0,0 0 0,0 0 0,0 0 0,2 0 0,15 12 0,0-2 0,1 0 0,0-1 0,1-1 0,0-1 0,0-1 0,24 5 0,-5 0 0,86 25 0,1-6 0,130 14 0,264-8 0,-394-40 0,-276 14 0,-143 13 0,200-12 0,-101 26 0,159-23 0,85-18 0,0-1 0,93-22 0,-96 17 0,232-65 0,-274 72 0,0 1 0,1-1 0,-1 0 0,0 0 0,1-1 0,5-4 0,-10 7 0,0 0 0,-1-1 0,1 0 0,0 1 0,-1-1 0,1 1 0,0-1 0,-1 0 0,1 1 0,-1-1 0,0 0 0,1 0 0,-1 0 0,0 1 0,1-1 0,-1 0 0,0 0 0,0 0 0,1 0 0,-1 1 0,0-1 0,0 0 0,0 0 0,0 0 0,0 0 0,-1 0 0,1 1 0,0-1 0,0 0 0,0 0 0,-1 0 0,1 0 0,0 1 0,-1-1 0,1 0 0,-1 0 0,1 1 0,-1-1 0,1 0 0,-1 1 0,0-1 0,0 0 0,-6-6 0,-1 0 0,0 1 0,0 0 0,0 0 0,0 1 0,-1 0 0,0 1 0,-15-6 0,-84-24 0,91 30 0,-99-18 0,77 16 0,-52-15 0,89 21 0,0-1 0,0 1 0,1-1 0,-1 0 0,0 0 0,0 0 0,0 0 0,1 0 0,-1 0 0,1 0 0,-1 0 0,1-1 0,-1 1 0,-1-3 0,3 3 0,-1 0 0,1 0 0,-1 0 0,1 0 0,0 0 0,-1 0 0,1 0 0,0 0 0,0 0 0,0 0 0,0 0 0,0 0 0,0 0 0,0 0 0,0 0 0,1 0 0,-1 0 0,0 0 0,1 0 0,0-1 0,1-2 0,0 0 0,1 0 0,0 0 0,0 1 0,0-1 0,0 1 0,1 0 0,-1 0 0,1 0 0,6-3 0,144-81 0,-150 85 0,6-3 0,-1 1 0,0 1 0,1 0 0,0 0 0,-1 1 0,1 0 0,14 0 0,1 1 0,42 4 0,-63-3 0,1 1 0,-1 0 0,0 0 0,1 0 0,-1 1 0,0-1 0,0 1 0,0 0 0,0 0 0,0 1 0,-1-1 0,1 1 0,-1 0 0,0 0 0,1 0 0,-1 0 0,0 0 0,-1 1 0,1-1 0,-1 1 0,1 0 0,-1 0 0,0 0 0,-1 0 0,1 0 0,1 8 0,3 9 0,-2 0 0,0 1 0,-2 0 0,1 25 0,-2-26 0,-1 275 0,0-455 0,-1 55 0,-2 50 0,-9-56 0,-2-53 0,16 36 0,70 556 0,-18-100 0,-40-237 0,17 76 0,-20-134 0,-11-34 0,0 1 0,0-1 0,0 0 0,0 1 0,0-1 0,0 0 0,0 0 0,0 1 0,0-1 0,0 0 0,0 0 0,0 1 0,1-1 0,-1 0 0,0 0 0,0 1 0,0-1 0,0 0 0,1 0 0,-1 0 0,0 1 0,0-1 0,0 0 0,1 0 0,-1 0 0,0 0 0,0 0 0,1 1 0,-1-1 0,0 0 0,0 0 0,1 0 0,-1 0 0,0 0 0,0 0 0,1 0 0,-1 0 0,0 0 0,1 0 0,4-12 0,-2-21 0,-2-335 0,-3 171 0,2 193 0,1 0 0,-1-1 0,-1 1 0,1-1 0,0 1 0,-1-1 0,0 1 0,0 0 0,-1 0 0,1-1 0,-3-4 0,4 9 0,-1-1 0,1 1 0,0 0 0,0 0 0,-1 0 0,1-1 0,0 1 0,-1 0 0,1 0 0,0 0 0,-1-1 0,1 1 0,0 0 0,-1 0 0,1 0 0,0 0 0,-1 0 0,1 0 0,0 0 0,-1 0 0,1 0 0,-1 0 0,1 0 0,0 0 0,-1 0 0,1 0 0,0 0 0,-1 1 0,1-1 0,0 0 0,-1 0 0,1 0 0,0 0 0,-1 1 0,1-1 0,0 0 0,0 0 0,-1 1 0,1-1 0,0 0 0,0 0 0,-1 1 0,1-1 0,0 0 0,0 1 0,0-1 0,0 0 0,-1 1 0,1 0 0,-9 20 0,2 8 0,2 1 0,0-1 0,2 1 0,1 34 0,10 122 0,-7-175 0,3 54 176,-1-8-947,12 72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8:15:30.3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426 275 24575,'-11'0'0,"-26"0"0,0 1 0,-68 11 0,-15 6 0,303-17 0,76-16 0,156-3 0,-239 19 0,-322 1 0,-167-5 0,194-12 0,-1 0 0,106 14 0,8 2 0,0-1 0,0-1 0,0 1 0,0-1 0,0 0 0,0 0 0,0-1 0,0 0 0,1 0 0,-7-3 0,12 5 0,0 0 0,0 0 0,0 0 0,-1 0 0,1 0 0,0 0 0,0 0 0,0 0 0,0-1 0,0 1 0,0 0 0,0 0 0,0 0 0,0 0 0,-1 0 0,1 0 0,0-1 0,0 1 0,0 0 0,0 0 0,0 0 0,0 0 0,0 0 0,0-1 0,0 1 0,0 0 0,0 0 0,0 0 0,0 0 0,0 0 0,0-1 0,0 1 0,0 0 0,0 0 0,0 0 0,0 0 0,1 0 0,-1-1 0,0 1 0,0 0 0,0 0 0,0 0 0,0 0 0,0 0 0,0 0 0,0 0 0,1-1 0,-1 1 0,0 0 0,0 0 0,0 0 0,0 0 0,0 0 0,0 0 0,1 0 0,-1 0 0,0 0 0,0 0 0,0 0 0,0 0 0,0 0 0,1 0 0,-1 0 0,17-6 0,1 1 0,0 1 0,30-3 0,2-1 0,303-56 0,-342 62 0,3 1 0,0-2 0,0 0 0,0 0 0,0-1 0,-1-1 0,14-6 0,-17 0 0,-13 3 0,-24-3 0,-28 2 0,-1 2 0,0 3 0,-76 4 0,63 0 0,-536 4 0,648-4 0,399-6 0,-301-2 0,155-28 0,-326 41 0,-113 23 0,-292 99 0,392-110 0,43-17 0,-1 1 0,1-1 0,-1 0 0,1 0 0,-1 0 0,1 0 0,-1 0 0,1 1 0,-1-1 0,1 0 0,0 0 0,-1 1 0,1-1 0,-1 0 0,1 1 0,0-1 0,-1 0 0,1 1 0,0-1 0,-1 1 0,1-1 0,0 1 0,-1-1 0,1 0 0,0 1 0,0-1 0,0 1 0,0-1 0,-1 1 0,1-1 0,0 1 0,0 0 0,0-1 0,0 1 0,0-1 0,0 1 0,0-1 0,0 1 0,1-1 0,-1 1 0,21 8 0,23-2-73,0-2-1,1-3 1,73-4-1,-67 1-997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8:15:33.7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1809 388 24575,'-476'0'0,"447"1"0,0 2 0,-40 9 0,-4 0 0,59-9 0,18-2 0,30 0 0,-27-1 0,97 0 0,-1-5 0,0-4 0,0-5 0,-2-4 0,165-52 0,-263 69 0,-1 1 0,1-1 0,0 0 0,-1 0 0,1-1 0,-1 1 0,0-1 0,1 1 0,-1-1 0,0 1 0,0-1 0,0 0 0,3-4 0,-5 6 0,0-1 0,0 1 0,1-1 0,-1 1 0,0-1 0,0 1 0,0-1 0,0 1 0,0-1 0,0 1 0,0-1 0,0 1 0,0-1 0,0 1 0,0-1 0,0 1 0,-1-1 0,1 1 0,0-1 0,0 1 0,0-1 0,-1 1 0,1-1 0,0 1 0,-1 0 0,0-1 0,-22-13 0,-5 7 0,0 0 0,0 2 0,-1 1 0,0 2 0,-38 0 0,24 1 0,-553-2 0,461 4 0,100-1 0,14-1 0,1 1 0,-1 1 0,1 1 0,-1 1 0,-25 6 0,42-6 0,11-1 0,16 0 0,20-5 0,0-1 0,0-2 0,-1-2 0,1-2 0,-2-2 0,0-1 0,68-33 0,-109 46 0,1 0 0,-1 0 0,1 0 0,-1 0 0,1-1 0,-1 1 0,0 0 0,1 0 0,-1-1 0,1 1 0,-1 0 0,0 0 0,1-1 0,-1 1 0,0 0 0,1-1 0,-1 1 0,0 0 0,1-1 0,-1 1 0,0-1 0,0 1 0,0-1 0,1 1 0,-1 0 0,0-1 0,0 1 0,0-1 0,0 0 0,-12-4 0,-27 3 0,-13 7 0,1 2 0,0 3 0,-76 24 0,53-14 0,-33 13 0,105-33 0,1 0 0,0 1 0,0-1 0,-1 1 0,1-1 0,0 1 0,0 0 0,0-1 0,0 1 0,-1 0 0,1 0 0,0-1 0,0 1 0,-1 2 0,2-2 0,0-1 0,0 1 0,0-1 0,1 0 0,-1 1 0,0-1 0,0 0 0,1 1 0,-1-1 0,0 0 0,0 1 0,1-1 0,-1 0 0,0 0 0,1 1 0,-1-1 0,0 0 0,1 0 0,-1 0 0,0 1 0,1-1 0,-1 0 0,1 0 0,-1 0 0,0 0 0,1 0 0,-1 0 0,1 0 0,0 0 0,47 4 0,19-6 0,0-3 0,-1-4 0,1-2 0,85-26 0,251-101 0,-402 138 0,37-17 0,-38 17 0,0 0 0,1 0 0,-1 0 0,1 0 0,-1 0 0,1-1 0,-1 1 0,0 0 0,1 0 0,-1-1 0,0 1 0,1 0 0,-1-1 0,0 1 0,1 0 0,-1-1 0,0 1 0,0-1 0,0 1 0,1 0 0,-1-1 0,0 1 0,0-1 0,0 1 0,0-1 0,0 1 0,1 0 0,-1-1 0,0 1 0,0-1 0,0 1 0,0-1 0,-1 1 0,1-1 0,0 0 0,-16-9 0,-26 1 0,-33 4 0,1 4 0,-1 3 0,-87 13 0,85-7 0,-1 0 0,0 3 0,0 3 0,-106 36 0,153-43 0,-1-1 0,1-1 0,-2-1 0,1-2 0,-47-3 0,32 1 0,-83-2 0,-86 3 0,178 3 0,38-4 0,-1 0 0,1 0 0,0 0 0,-1 0 0,1 0 0,-1 0 0,1 0 0,-1 0 0,1 0 0,-1 0 0,1 0 0,0 1 0,-1-1 0,1 0 0,-1 0 0,1 0 0,-1 1 0,1-1 0,0 0 0,-1 0 0,1 1 0,0-1 0,-1 0 0,1 1 0,0-1 0,-1 0 0,1 1 0,0-1 0,0 1 0,0-1 0,-1 0 0,1 1 0,0-1 0,0 1 0,0-1 0,0 1 0,16 10 0,29 2 0,1-1 0,0-2 0,1-2 0,48 2 0,-62-7 0,366 15 0,-367-17 0,0 2 0,42 8 0,32 3 0,-73-13-1365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89655-9A5E-46AD-9964-306D507EDD3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E9706-8CBD-4D1D-85DB-6D3A8DF4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82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6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445E-1F87-B862-3BD0-DF1090FF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34E34-5FFB-C3C5-9461-EEDD1C274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F9F97-1AD6-A67D-DAA3-C4D14D3A6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67FB-AF11-3352-AAA6-8F136C6A9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10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958C-A52A-6D48-A30E-2EDBA6E5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E8988-A857-CCCA-BC2A-FA9DC56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1FD5D-E29B-D424-BA9F-C9CCB40E1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5427F-21E5-8395-0B76-6986A966D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1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760D6-D01B-8F01-8366-524D9A84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8BEA7-993B-3AB5-A053-5EF7BCC4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AE631-1EB0-C34B-DB39-AFC69CD84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39D4A-8F04-7823-ED25-0CD96CEEB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8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BA04-0EBA-1674-6A7F-2B678ED5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B640-1781-A942-3B52-F783FC14E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5C013-AD7C-847B-B44D-E3AD17661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704FC-4F31-3FEB-78E7-5794EBB69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70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76DD1-0386-8242-6190-C65AACE4C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26A98-4304-8B4A-692C-62A25438A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08658-4C62-35E9-F238-7AF7A8102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111B9-EF0E-EEDF-B92B-07D46278E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88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F18E-A238-1EDA-2F0E-3182C4FE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D5517-5F9C-841F-4D0C-ED5A90DE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2CC08-80CD-17CF-CAC4-5F534E9F6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FE72C-D4CA-B18A-4866-51C2B5F98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32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E326-2C63-847C-81BB-823D44B3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D26DC-B1E0-53C8-8088-D54DA8E55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6B75C-12B6-0B2E-38F7-78C471ACD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7158A-57AE-4EA5-F568-C3785066B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95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835E-5C4E-91DF-9E30-256952B5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7565A-DD23-E279-48E5-2C00CDC1A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B2C20-0986-8EEF-8C07-30DDA43A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F03FC-AD31-24D1-B891-EDC768B85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3356-D4B9-5BDB-1E19-DCA835A7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49035-69DB-78DE-ECB1-E853D96E5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86A3B-6BB1-4F18-9D8B-CB0693CD2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2C52E-87E4-3D78-87A0-44FB0475B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3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6E2A-A755-5051-4504-CC6735D6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654B6-56C4-D063-720E-0F81C2BD0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EC782-2F24-14FF-8C9C-B6325B21D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5CC27-0C34-F652-6F96-3CB58927A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92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3BCE-5306-B396-1856-F95CE6C1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6D10E-4741-E94B-C2E0-11A9DB09C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760C5-D4B2-84EA-0991-8F24043B7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87221-1CF3-240F-7EA9-BF08B17B7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87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7499-80A7-F94D-6B53-F84925D6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96C18-F4F3-CD0A-7C80-A76A51E8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F7C6F-76BE-4467-865A-273137B90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7EDC3-A866-B91B-6A13-BD94F285A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54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0C24-9C69-932E-8529-954CD14E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D81A-B2A0-D66F-D0CA-45DB6303A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F9692-6519-7015-49AC-78B94C26C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3A26B-59AB-C26D-CAE8-4B909E6E8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75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94F5-0D5F-1A2F-BC09-60BECE94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C2F17-7363-8D51-4290-B95801DA1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8146F-1222-34C5-1191-8A0E30890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B716-AD40-C261-FE64-1959BAD16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D0F61-1828-489D-8735-2E50BB4F241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4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A24F-4B34-565F-7F5B-D2EE348E1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79F8B-8431-B156-D1B3-B51327594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71843-2278-9501-856B-0F70FA49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AAF1-251E-5AC1-AF7A-C6EEF525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9064-A9ED-37FF-5118-D9896E03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7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CF44-F4C6-B728-FDA5-E2BFFDE9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5906D-7D2E-B856-8269-6ABD08E74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1386-3F48-FF8D-4A56-30C210EC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AD45E-380F-3878-ADA6-2799FADD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8EF41-0AE9-50CE-B4B9-A55CB0BC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6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8FAC-3C33-EB3F-D6D6-AFD44123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1AE65-B65E-3BFA-8A6B-3F6256057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84542-8202-77E6-4A10-CD50551F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2075-995F-08E4-1D1F-FC8DD5D8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E1B5-3B15-5B64-3831-9AB220A0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77E0-72AF-3B1D-5819-58024626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5D02-BD65-FD34-0391-A28A612E4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F7494-4F72-6E80-4459-70DC602C1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03CE-6B1E-304F-FBF6-315289DE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D97B8-95F2-0558-E674-267D68DE9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20AE1-449B-0C33-D12B-98BDEE63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5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E59C-EC73-8117-848C-C99473E6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F6272-816E-E3B6-CAC3-9FB419FE3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934CA-6A69-0E39-F091-50F71AA71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63705-633A-5FA3-3CF1-504FE9711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EB5DD9-26EA-D07F-D875-757EA9E8D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2FEEC-C62F-8082-B08A-8589DC37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16CED-EC83-7708-F2DB-6F8D3850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52C47-6965-BB1F-8DEC-E483140C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8BFE-D719-C39C-C5E1-79AE4025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BE5C8-CE14-956F-3D62-C519C6CA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EA2C2-1B8C-EFA1-4EC3-AB99D3EF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F05C9-A0F5-2849-8C39-159CE288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9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83E4D-0FB8-AC5C-64BB-73D3021C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43476-5CCE-7AB3-2433-6077C63A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76D7E-C1B2-0BD0-8CA1-8B0CF786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5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EF84-21AD-E588-E708-9C98D30D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1573-0AA4-074C-819E-8553DC58F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421E-15FF-9627-F40F-7A426F262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0F35-B4E2-AC6F-E716-702DD816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B8C49-4B39-C0A3-38AA-BB592891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4BD64-55CD-62C1-B714-F19B43887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9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AFAF-9202-0FA3-24A0-B57EC781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83A19-9A3D-B6AE-19F0-68151C06C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B2396-F62A-5CB0-B122-E5604DF0D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A95AA-D9AD-1D91-C41E-7BF3C01F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B0FE4-1907-4196-59AA-40989860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05AE-50AA-E934-3897-72764608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8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822C-7C85-73BE-4C2A-FECE4236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CC493-18F2-4D5F-4887-AC5968923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BA897-CB2E-2334-C214-DA63E80B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558B4-3D77-AA7B-58A0-6E0D1475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70D31-15EA-8E6A-6EE8-3D13386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4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3569E-D056-8148-2677-C7C72F1D6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10935-1536-19D2-E27D-449D5BF7B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E0B31-9ECB-E2B9-22F0-3DAAFF7FF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311D7-94DA-2F19-2435-51C4D768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77DA-AE41-81BF-55D4-0F9ED3D9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D0A350-D302-33D5-AE5B-B5532593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77504-B1F3-135B-3085-A2AA64DD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6E8A-8CAC-1D08-0F76-9BB1BF61B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0C676-6205-463D-A80C-3B3FDCE77BA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F6B66-05BF-510D-4BC4-458501248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AA4DF-334A-6492-C06D-E28BE39F6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C1B86-D260-4C0D-A92F-A0101E1CC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6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1.jpg"/><Relationship Id="rId7" Type="http://schemas.openxmlformats.org/officeDocument/2006/relationships/customXml" Target="../ink/ink2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.xml"/><Relationship Id="rId10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7.jpg"/><Relationship Id="rId7" Type="http://schemas.openxmlformats.org/officeDocument/2006/relationships/customXml" Target="../ink/ink5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4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4D3E-DE9B-0FE1-C613-3A91FBAF4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54272-5722-BB3D-04EC-EBD29812E9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3F98A-FD92-EF5B-A67D-13468246D4A1}"/>
              </a:ext>
            </a:extLst>
          </p:cNvPr>
          <p:cNvSpPr/>
          <p:nvPr/>
        </p:nvSpPr>
        <p:spPr>
          <a:xfrm>
            <a:off x="0" y="28399"/>
            <a:ext cx="12192000" cy="6352601"/>
          </a:xfrm>
          <a:prstGeom prst="rect">
            <a:avLst/>
          </a:prstGeom>
          <a:gradFill>
            <a:gsLst>
              <a:gs pos="100000">
                <a:srgbClr val="D3D5FC"/>
              </a:gs>
              <a:gs pos="83000">
                <a:schemeClr val="bg1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C741E-755C-F9B7-ECDD-D9F1CF33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951293"/>
            <a:ext cx="9792000" cy="43330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075B3F4-8168-64CB-499B-A8544615ED1E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47221B-C331-92E0-DCAA-C71C32ECD2DE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07FB8C-B91D-33CA-972A-5593D756DCBE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D95F10-56D5-55BE-A861-0E1BAF3C86C9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5B30F0-A3A9-C07A-8533-C4BAE958E7A5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BF6FC73-6FE3-80BA-9B90-1DEE2F7B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C0FAEF-D4A6-14E1-945F-2DA401D8B44E}"/>
              </a:ext>
            </a:extLst>
          </p:cNvPr>
          <p:cNvSpPr txBox="1"/>
          <p:nvPr/>
        </p:nvSpPr>
        <p:spPr>
          <a:xfrm>
            <a:off x="411250" y="432084"/>
            <a:ext cx="113694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Concrete Incorporating </a:t>
            </a:r>
          </a:p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Absorbing Polymers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B01B6-EB2B-3BC1-5338-24FC867E539E}"/>
              </a:ext>
            </a:extLst>
          </p:cNvPr>
          <p:cNvSpPr txBox="1"/>
          <p:nvPr/>
        </p:nvSpPr>
        <p:spPr>
          <a:xfrm>
            <a:off x="48000" y="5707566"/>
            <a:ext cx="2979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Mentor:-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Sushree Sunayana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82D74-1FB7-7737-28DA-307992A8B098}"/>
              </a:ext>
            </a:extLst>
          </p:cNvPr>
          <p:cNvSpPr txBox="1"/>
          <p:nvPr/>
        </p:nvSpPr>
        <p:spPr>
          <a:xfrm>
            <a:off x="8398500" y="5106913"/>
            <a:ext cx="3793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Kumawat (2022UCE1610)</a:t>
            </a:r>
          </a:p>
          <a:p>
            <a:pPr algn="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Gaurav Singh (2022UCE1243)</a:t>
            </a:r>
          </a:p>
          <a:p>
            <a:pPr algn="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Nigam Kumar (2022UCE1425)</a:t>
            </a:r>
          </a:p>
          <a:p>
            <a:pPr algn="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6607-BCDD-4D97-D310-105D3372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22B7DF2-0B86-32F8-7B24-A8FD7B260FA6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C36AE8-BAED-7DC1-19E3-441FBA257ADF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409EC2-8636-8358-66D6-75E137569DD2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D1DB7A-EEA6-37FB-9EB7-474FA98E6983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7C9360-23B6-476C-A259-E6E9BC0505EE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2FA8879-B249-0B62-1CAA-52BB6FDF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8C9B21-53AA-4682-50F3-93C02C31FF45}"/>
              </a:ext>
            </a:extLst>
          </p:cNvPr>
          <p:cNvSpPr txBox="1"/>
          <p:nvPr/>
        </p:nvSpPr>
        <p:spPr>
          <a:xfrm>
            <a:off x="544567" y="136525"/>
            <a:ext cx="109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SAP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FA92CFC-0E3F-F391-1D18-EE4EC7CB3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04" y="408622"/>
            <a:ext cx="90763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Absorbent Polymer (SAP)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cross-linked polymers commonly composed of polyacrylate-based polymers capable of absorbing water several times their own weight.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incorporated in concrete, SAP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curing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beneficial for low w/c mixes.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7035A-4ACA-7D51-CD53-E4AAB5C8C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528" y="175634"/>
            <a:ext cx="2064775" cy="298108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7CF4B5-366B-4252-C587-AC6DF815B538}"/>
              </a:ext>
            </a:extLst>
          </p:cNvPr>
          <p:cNvCxnSpPr>
            <a:cxnSpLocks/>
          </p:cNvCxnSpPr>
          <p:nvPr/>
        </p:nvCxnSpPr>
        <p:spPr>
          <a:xfrm flipH="1" flipV="1">
            <a:off x="9055510" y="496221"/>
            <a:ext cx="1792490" cy="5434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4A4FA1-82B2-EDBF-DC19-8364AB231288}"/>
              </a:ext>
            </a:extLst>
          </p:cNvPr>
          <p:cNvSpPr txBox="1"/>
          <p:nvPr/>
        </p:nvSpPr>
        <p:spPr>
          <a:xfrm>
            <a:off x="8600331" y="292324"/>
            <a:ext cx="596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254A1-C1CA-75DF-8D99-49C508CC2BB7}"/>
              </a:ext>
            </a:extLst>
          </p:cNvPr>
          <p:cNvSpPr txBox="1"/>
          <p:nvPr/>
        </p:nvSpPr>
        <p:spPr>
          <a:xfrm>
            <a:off x="544568" y="3084688"/>
            <a:ext cx="109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SAP &amp; Internal Curing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5EF9E42-3946-C47A-207C-2FA152778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04" y="3672703"/>
            <a:ext cx="927304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absorbs water in its pre-wetted state during mixing and acts as an internal water reservoir.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hydration progresses and internal relative humidity decreases, SAP gradually releases the stored water into the cement matrix.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continuous water supply supports further hydration, reduces self-desiccation, and enables effective internal curing.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AD4456-8990-BD3B-02E3-8D6FD98AE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347" y="3688272"/>
            <a:ext cx="2064776" cy="255454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7FA967-19D6-15A6-F1F4-D457D3182911}"/>
              </a:ext>
            </a:extLst>
          </p:cNvPr>
          <p:cNvCxnSpPr>
            <a:cxnSpLocks/>
          </p:cNvCxnSpPr>
          <p:nvPr/>
        </p:nvCxnSpPr>
        <p:spPr>
          <a:xfrm flipH="1" flipV="1">
            <a:off x="9143970" y="3608864"/>
            <a:ext cx="2230900" cy="7839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DA085E-08E9-9522-99C4-A3A52BB67890}"/>
              </a:ext>
            </a:extLst>
          </p:cNvPr>
          <p:cNvSpPr txBox="1"/>
          <p:nvPr/>
        </p:nvSpPr>
        <p:spPr>
          <a:xfrm>
            <a:off x="8450717" y="3296051"/>
            <a:ext cx="1334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Swollen SAP</a:t>
            </a:r>
          </a:p>
        </p:txBody>
      </p:sp>
    </p:spTree>
    <p:extLst>
      <p:ext uri="{BB962C8B-B14F-4D97-AF65-F5344CB8AC3E}">
        <p14:creationId xmlns:p14="http://schemas.microsoft.com/office/powerpoint/2010/main" val="270348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89C8B-32A5-3AD3-577B-55DB6B87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B546CED-C0D4-2DD1-6A2E-CBEF62C47BA2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16A2DE-A503-859E-6326-6A36059C4BCF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B946A9-FD26-85EA-4BB8-DEB911435AA8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A14775-17CC-A1CB-FDC6-8A9A56C50155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825FF9-DD7F-629D-832C-F52319C2A81D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9DD56B8-9C33-DCDD-3DAF-435D06C8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060503-DE24-3D6A-D641-F3832F7909A1}"/>
              </a:ext>
            </a:extLst>
          </p:cNvPr>
          <p:cNvSpPr txBox="1"/>
          <p:nvPr/>
        </p:nvSpPr>
        <p:spPr>
          <a:xfrm>
            <a:off x="637875" y="559573"/>
            <a:ext cx="1091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of the study 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8CC41227-F105-E883-E82D-2F5E1D03E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11" y="6682334"/>
            <a:ext cx="11634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07D6F0-E516-8FA0-EAB4-3B87C7C19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75" y="1594995"/>
            <a:ext cx="1042341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water-cement ratio concrete often lacks sufficient internal moisture for complete hydration.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curing becomes challenging in semi-arid regions or in hot climate.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self-desiccation, early-age cracking, and reduction in strength.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dosage of SAP for low w/c concrete is still not well-established, despite the capability of SAP to act as internal water reservoirs.</a:t>
            </a:r>
          </a:p>
        </p:txBody>
      </p:sp>
    </p:spTree>
    <p:extLst>
      <p:ext uri="{BB962C8B-B14F-4D97-AF65-F5344CB8AC3E}">
        <p14:creationId xmlns:p14="http://schemas.microsoft.com/office/powerpoint/2010/main" val="126605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5085-3BB1-ED6E-3E04-2D9DD485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7A96A00-EEFC-C0DE-239E-D30F65B396D7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14602B-B050-0F18-257C-A616CA46C757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5503B4-D0E2-C2EF-1AC4-DEE982902D3D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D530FC-0CCA-B424-8E62-A3D42F6EE5A6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1A72EC-D387-844A-B97B-5A3CDEBD176C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7F7AC6E-1D86-3DEA-56A3-B4067EB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CFF032-8237-4F90-DBD0-FCCCF79255CD}"/>
              </a:ext>
            </a:extLst>
          </p:cNvPr>
          <p:cNvSpPr txBox="1"/>
          <p:nvPr/>
        </p:nvSpPr>
        <p:spPr>
          <a:xfrm>
            <a:off x="637875" y="442402"/>
            <a:ext cx="1091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983CA8-E4B3-CCFF-9F72-FFDC9EA6E4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5706" y="1343857"/>
            <a:ext cx="1091624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absorption and desorption kinetics of Super-absorbing polymer in cementitious solution.</a:t>
            </a:r>
          </a:p>
          <a:p>
            <a:pPr marL="457200" indent="-457200">
              <a:buFont typeface="+mj-lt"/>
              <a:buAutoNum type="arabicParenR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effects of SAP on fresh and hardened concrete properties.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dosage of SAP with a suitable low water-cement ratio.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predictive analysis using statistical and machine learning models based on experimental data.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73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0FCD-D582-632F-3E21-9245BCAD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8B987-E599-D644-6040-E00D3A1CB0AA}"/>
              </a:ext>
            </a:extLst>
          </p:cNvPr>
          <p:cNvSpPr/>
          <p:nvPr/>
        </p:nvSpPr>
        <p:spPr>
          <a:xfrm>
            <a:off x="-24000" y="0"/>
            <a:ext cx="1250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F0165-7E24-847C-A6C0-E27B59EE19E7}"/>
              </a:ext>
            </a:extLst>
          </p:cNvPr>
          <p:cNvGrpSpPr/>
          <p:nvPr/>
        </p:nvGrpSpPr>
        <p:grpSpPr>
          <a:xfrm>
            <a:off x="0" y="6354000"/>
            <a:ext cx="12480000" cy="508627"/>
            <a:chOff x="0" y="6354000"/>
            <a:chExt cx="12192000" cy="50862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2B97D6-96A6-35FF-6CDA-4EED2A062693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887C612-A50D-50B6-95CE-011D54E88755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08D46C-6678-93DA-9D87-42F7D0D02651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ED7110-26DA-878B-5E7B-C2A6AEF053A8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423F7A-1925-6FB3-EF30-D06A521C81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83"/>
          <a:stretch/>
        </p:blipFill>
        <p:spPr>
          <a:xfrm>
            <a:off x="8832000" y="4869703"/>
            <a:ext cx="3103504" cy="1943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04EFCB-13FC-DEC6-D711-E28D5114AE11}"/>
              </a:ext>
            </a:extLst>
          </p:cNvPr>
          <p:cNvSpPr txBox="1"/>
          <p:nvPr/>
        </p:nvSpPr>
        <p:spPr>
          <a:xfrm>
            <a:off x="565118" y="650769"/>
            <a:ext cx="3279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6798D-3B4F-F817-27E8-53FEB0B8D31A}"/>
              </a:ext>
            </a:extLst>
          </p:cNvPr>
          <p:cNvSpPr txBox="1"/>
          <p:nvPr/>
        </p:nvSpPr>
        <p:spPr>
          <a:xfrm>
            <a:off x="5761608" y="300953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EA7B5E9-C36C-3F2A-79EB-786C66717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8847581"/>
              </p:ext>
            </p:extLst>
          </p:nvPr>
        </p:nvGraphicFramePr>
        <p:xfrm>
          <a:off x="4116907" y="349420"/>
          <a:ext cx="6923405" cy="5629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A9E57504-EC56-A9E6-69A3-546A7801C795}"/>
              </a:ext>
            </a:extLst>
          </p:cNvPr>
          <p:cNvSpPr/>
          <p:nvPr/>
        </p:nvSpPr>
        <p:spPr>
          <a:xfrm>
            <a:off x="8392174" y="1376742"/>
            <a:ext cx="344805" cy="4737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ADCE081-641B-5809-68D0-89A13CBA3EEC}"/>
              </a:ext>
            </a:extLst>
          </p:cNvPr>
          <p:cNvSpPr/>
          <p:nvPr/>
        </p:nvSpPr>
        <p:spPr>
          <a:xfrm>
            <a:off x="8404193" y="2507699"/>
            <a:ext cx="344805" cy="4737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0AD7AF4-065D-DFC0-8F78-88FC4938CADA}"/>
              </a:ext>
            </a:extLst>
          </p:cNvPr>
          <p:cNvSpPr/>
          <p:nvPr/>
        </p:nvSpPr>
        <p:spPr>
          <a:xfrm>
            <a:off x="8404193" y="4712524"/>
            <a:ext cx="344805" cy="4737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AF718F5-4AF6-7907-6D16-E5C8C3471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604BAD7-AF88-10BB-E37E-49EF6916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681C1C-374C-9B02-B8FC-7A482277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5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076A94B-E7DF-015B-E4E1-C720908D11CE}"/>
              </a:ext>
            </a:extLst>
          </p:cNvPr>
          <p:cNvSpPr txBox="1">
            <a:spLocks/>
          </p:cNvSpPr>
          <p:nvPr/>
        </p:nvSpPr>
        <p:spPr>
          <a:xfrm>
            <a:off x="9391821" y="64631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B0E317-27DF-3FD9-E178-F47612F4B1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7" y="1816582"/>
            <a:ext cx="2930454" cy="416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3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3410-F710-33A9-08F7-2DC1381F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B09D98A-9AAE-990F-CA96-85DCC01946C2}"/>
              </a:ext>
            </a:extLst>
          </p:cNvPr>
          <p:cNvGrpSpPr/>
          <p:nvPr/>
        </p:nvGrpSpPr>
        <p:grpSpPr>
          <a:xfrm>
            <a:off x="0" y="6354000"/>
            <a:ext cx="12192000" cy="508627"/>
            <a:chOff x="0" y="6354000"/>
            <a:chExt cx="12192000" cy="50862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003631-BED3-6605-0A4F-2C202083351F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8F50F2-3906-CFB4-98B6-357BEA4524FE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54BFDA-CD1F-8369-BA70-D2C7732D49DD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4C4C7E-BCC3-0196-80E4-C13C064F615A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7A1CDA5-A19E-44BE-1E47-2630E4F508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83"/>
          <a:stretch/>
        </p:blipFill>
        <p:spPr>
          <a:xfrm>
            <a:off x="8832000" y="4869703"/>
            <a:ext cx="3103504" cy="1943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90C2AD-A52E-DA7F-5883-A07F71A3C8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00" y="1334693"/>
            <a:ext cx="3826124" cy="3826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2E073A-D48C-4F02-4DF2-D4D1FCC50AE9}"/>
              </a:ext>
            </a:extLst>
          </p:cNvPr>
          <p:cNvSpPr txBox="1"/>
          <p:nvPr/>
        </p:nvSpPr>
        <p:spPr>
          <a:xfrm>
            <a:off x="5761608" y="300953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44A69-5803-ECDB-7AD5-141754A69CAD}"/>
              </a:ext>
            </a:extLst>
          </p:cNvPr>
          <p:cNvSpPr txBox="1"/>
          <p:nvPr/>
        </p:nvSpPr>
        <p:spPr>
          <a:xfrm>
            <a:off x="4371446" y="67612"/>
            <a:ext cx="3099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D171F4-2314-DB40-061A-181FA29D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D6D533-3C05-0B2C-0D91-3712F2725560}"/>
              </a:ext>
            </a:extLst>
          </p:cNvPr>
          <p:cNvSpPr txBox="1">
            <a:spLocks/>
          </p:cNvSpPr>
          <p:nvPr/>
        </p:nvSpPr>
        <p:spPr>
          <a:xfrm>
            <a:off x="9391821" y="64631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D0122E-DAC5-D5FD-6AA3-06F193BFA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733995"/>
              </p:ext>
            </p:extLst>
          </p:nvPr>
        </p:nvGraphicFramePr>
        <p:xfrm>
          <a:off x="416772" y="629775"/>
          <a:ext cx="11358455" cy="5376223"/>
        </p:xfrm>
        <a:graphic>
          <a:graphicData uri="http://schemas.openxmlformats.org/drawingml/2006/table">
            <a:tbl>
              <a:tblPr/>
              <a:tblGrid>
                <a:gridCol w="605785">
                  <a:extLst>
                    <a:ext uri="{9D8B030D-6E8A-4147-A177-3AD203B41FA5}">
                      <a16:colId xmlns:a16="http://schemas.microsoft.com/office/drawing/2014/main" val="1420467946"/>
                    </a:ext>
                  </a:extLst>
                </a:gridCol>
                <a:gridCol w="2852234">
                  <a:extLst>
                    <a:ext uri="{9D8B030D-6E8A-4147-A177-3AD203B41FA5}">
                      <a16:colId xmlns:a16="http://schemas.microsoft.com/office/drawing/2014/main" val="2013799452"/>
                    </a:ext>
                  </a:extLst>
                </a:gridCol>
                <a:gridCol w="1716388">
                  <a:extLst>
                    <a:ext uri="{9D8B030D-6E8A-4147-A177-3AD203B41FA5}">
                      <a16:colId xmlns:a16="http://schemas.microsoft.com/office/drawing/2014/main" val="1269935720"/>
                    </a:ext>
                  </a:extLst>
                </a:gridCol>
                <a:gridCol w="1072743">
                  <a:extLst>
                    <a:ext uri="{9D8B030D-6E8A-4147-A177-3AD203B41FA5}">
                      <a16:colId xmlns:a16="http://schemas.microsoft.com/office/drawing/2014/main" val="1122476765"/>
                    </a:ext>
                  </a:extLst>
                </a:gridCol>
                <a:gridCol w="5111305">
                  <a:extLst>
                    <a:ext uri="{9D8B030D-6E8A-4147-A177-3AD203B41FA5}">
                      <a16:colId xmlns:a16="http://schemas.microsoft.com/office/drawing/2014/main" val="3869023301"/>
                    </a:ext>
                  </a:extLst>
                </a:gridCol>
              </a:tblGrid>
              <a:tr h="6002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Sr. No.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Author(s)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Findings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687853"/>
                  </a:ext>
                </a:extLst>
              </a:tr>
              <a:tr h="840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Superabsorbent Polymers for Internal Curing Concrete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Zhou, Wang, Taylor, Gu et al.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Explains SAP chemistry and its role in internal curing; reduces self-desiccation, improves hydration, minimizes shrinkage, and enhances durability.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694601"/>
                  </a:ext>
                </a:extLst>
              </a:tr>
              <a:tr h="900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Influence of Superabsorbent Polymers on the Surrounding Cement Paste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nb-N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Wang, Yang, Hu, Li, Cheng et al.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Shows SAP affects microstructure; increases early porosity but reduces it later; improves hydration (~5%) but may slightly reduce early strength.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684020"/>
                  </a:ext>
                </a:extLst>
              </a:tr>
              <a:tr h="8231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SAP in Concrete Construction – RILEM Update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Mechtcherine, Wyrzykowski, Schrofl et al.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Highlights shrinkage control, improved freeze–thaw resistance, and discusses challenges like SAP variability and dosage control.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475841"/>
                  </a:ext>
                </a:extLst>
              </a:tr>
              <a:tr h="7717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Measuring Absorption of SAP in Cementitious Environments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Zhao, Jensen, Hasholt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Discusses testing methods like tea-bag method; absorption depends heavily on ionic concentration; emphasizes accurate measurement techniques.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404800"/>
                  </a:ext>
                </a:extLst>
              </a:tr>
              <a:tr h="6859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Absorption &amp; Release Mechanism of SAP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Viktor Mechtcherine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Explains swelling and desorption based on osmotic pressure and humidity gradients; polymer structure affects performance.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3681"/>
                  </a:ext>
                </a:extLst>
              </a:tr>
              <a:tr h="7545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Super Absorbent Polymers (SAP) in Concrete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RILEM Technical Committee 225-SAP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Provides guidelines on SAP use; covers rheology, shrinkage reduction, durability, and need for standardization.</a:t>
                      </a:r>
                    </a:p>
                  </a:txBody>
                  <a:tcPr marL="6940" marR="6940" marT="6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98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47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55AD-2512-AAFE-8914-1535AE99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E2EFC59-7598-B28B-5D67-2C2086653ECC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FCE641-5584-E434-032D-B02EC9EB69F0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99508E-30FD-705A-CF9D-13BEA890141F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CF856E-B303-0B3C-ED56-5EEBC5505036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B2C368-9B57-0E77-22D4-F2E95092CCF8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0EC2B67-F298-E476-95BA-516BF7DA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4749AF-4E54-65FB-D44F-6AB87F2A6ED4}"/>
              </a:ext>
            </a:extLst>
          </p:cNvPr>
          <p:cNvSpPr txBox="1"/>
          <p:nvPr/>
        </p:nvSpPr>
        <p:spPr>
          <a:xfrm>
            <a:off x="4533744" y="796231"/>
            <a:ext cx="4343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44B71-E429-3984-4C54-5823B53CB8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7442" y="2014508"/>
            <a:ext cx="1095711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absorption and desorption kinetics of Super-absorbing polymer in cementitious solution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CCA07-61A7-BCCD-84DA-828AB1A01377}"/>
              </a:ext>
            </a:extLst>
          </p:cNvPr>
          <p:cNvSpPr/>
          <p:nvPr/>
        </p:nvSpPr>
        <p:spPr>
          <a:xfrm>
            <a:off x="3709987" y="719654"/>
            <a:ext cx="4772025" cy="95410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5C664FC-23BB-7FC5-C1C7-24A14F75DD01}"/>
              </a:ext>
            </a:extLst>
          </p:cNvPr>
          <p:cNvCxnSpPr>
            <a:cxnSpLocks/>
          </p:cNvCxnSpPr>
          <p:nvPr/>
        </p:nvCxnSpPr>
        <p:spPr>
          <a:xfrm>
            <a:off x="7909553" y="4052392"/>
            <a:ext cx="431594" cy="2789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A90A50-2C1E-4112-7156-19B88A91E2F5}"/>
              </a:ext>
            </a:extLst>
          </p:cNvPr>
          <p:cNvCxnSpPr>
            <a:cxnSpLocks/>
          </p:cNvCxnSpPr>
          <p:nvPr/>
        </p:nvCxnSpPr>
        <p:spPr>
          <a:xfrm flipH="1">
            <a:off x="4261234" y="4025960"/>
            <a:ext cx="423339" cy="3329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F5A55-FDAA-2DD1-435D-5090ABCEEF72}"/>
              </a:ext>
            </a:extLst>
          </p:cNvPr>
          <p:cNvSpPr/>
          <p:nvPr/>
        </p:nvSpPr>
        <p:spPr>
          <a:xfrm>
            <a:off x="4297558" y="3628038"/>
            <a:ext cx="3720151" cy="368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F00DD7-BB9A-0C26-459F-09DE6340D3F7}"/>
              </a:ext>
            </a:extLst>
          </p:cNvPr>
          <p:cNvSpPr/>
          <p:nvPr/>
        </p:nvSpPr>
        <p:spPr>
          <a:xfrm>
            <a:off x="2923638" y="4458557"/>
            <a:ext cx="2505765" cy="4911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6481C1-FDED-D2C5-B40D-DE4F4DAD27A7}"/>
              </a:ext>
            </a:extLst>
          </p:cNvPr>
          <p:cNvSpPr/>
          <p:nvPr/>
        </p:nvSpPr>
        <p:spPr>
          <a:xfrm>
            <a:off x="7399690" y="4506766"/>
            <a:ext cx="2392536" cy="4867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733C1-A50C-59F0-3F1B-7693CACD2587}"/>
              </a:ext>
            </a:extLst>
          </p:cNvPr>
          <p:cNvSpPr txBox="1"/>
          <p:nvPr/>
        </p:nvSpPr>
        <p:spPr>
          <a:xfrm>
            <a:off x="3273849" y="4475293"/>
            <a:ext cx="266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1620D-8F69-E0F6-F794-5F5F67B35F49}"/>
              </a:ext>
            </a:extLst>
          </p:cNvPr>
          <p:cNvSpPr txBox="1"/>
          <p:nvPr/>
        </p:nvSpPr>
        <p:spPr>
          <a:xfrm>
            <a:off x="7742434" y="4532734"/>
            <a:ext cx="266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Desorption test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6392D4-952A-EBBD-4E37-E863BC8294BD}"/>
              </a:ext>
            </a:extLst>
          </p:cNvPr>
          <p:cNvCxnSpPr>
            <a:cxnSpLocks/>
          </p:cNvCxnSpPr>
          <p:nvPr/>
        </p:nvCxnSpPr>
        <p:spPr>
          <a:xfrm>
            <a:off x="4297558" y="5043641"/>
            <a:ext cx="0" cy="3452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019258-A78B-ED50-EA4F-0D7585099A7B}"/>
              </a:ext>
            </a:extLst>
          </p:cNvPr>
          <p:cNvCxnSpPr>
            <a:cxnSpLocks/>
          </p:cNvCxnSpPr>
          <p:nvPr/>
        </p:nvCxnSpPr>
        <p:spPr>
          <a:xfrm>
            <a:off x="8421526" y="5014145"/>
            <a:ext cx="0" cy="336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3BE62-E990-628B-3A06-D19A20E4DB9E}"/>
              </a:ext>
            </a:extLst>
          </p:cNvPr>
          <p:cNvSpPr/>
          <p:nvPr/>
        </p:nvSpPr>
        <p:spPr>
          <a:xfrm>
            <a:off x="2923639" y="5432185"/>
            <a:ext cx="2505764" cy="5427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111D28-C232-9D53-D4B6-0C9B4BDA5906}"/>
              </a:ext>
            </a:extLst>
          </p:cNvPr>
          <p:cNvSpPr/>
          <p:nvPr/>
        </p:nvSpPr>
        <p:spPr>
          <a:xfrm>
            <a:off x="7434142" y="5429004"/>
            <a:ext cx="2458800" cy="5253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DA9329-19C3-62EB-75DB-A0ADD74276B2}"/>
              </a:ext>
            </a:extLst>
          </p:cNvPr>
          <p:cNvSpPr txBox="1"/>
          <p:nvPr/>
        </p:nvSpPr>
        <p:spPr>
          <a:xfrm>
            <a:off x="2841820" y="5503502"/>
            <a:ext cx="266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Tea-bag Absorption test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DC4F86-5D6E-BD3E-6039-6086DB142E41}"/>
              </a:ext>
            </a:extLst>
          </p:cNvPr>
          <p:cNvSpPr txBox="1"/>
          <p:nvPr/>
        </p:nvSpPr>
        <p:spPr>
          <a:xfrm>
            <a:off x="7561958" y="5478165"/>
            <a:ext cx="266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air-drying test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1C7B41-89A0-B98A-7D74-DBBEA4E9FBCE}"/>
              </a:ext>
            </a:extLst>
          </p:cNvPr>
          <p:cNvSpPr txBox="1"/>
          <p:nvPr/>
        </p:nvSpPr>
        <p:spPr>
          <a:xfrm>
            <a:off x="4513958" y="3611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SAP Characteristic Property Tests:</a:t>
            </a:r>
          </a:p>
        </p:txBody>
      </p:sp>
    </p:spTree>
    <p:extLst>
      <p:ext uri="{BB962C8B-B14F-4D97-AF65-F5344CB8AC3E}">
        <p14:creationId xmlns:p14="http://schemas.microsoft.com/office/powerpoint/2010/main" val="198940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DCA0-ED9A-7D98-AD74-8FF08829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7686-7684-8EC5-0944-D2EE0C14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02" y="19842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Tea-bag Absorption Test 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115D7-1A5B-158D-512C-22C0CC29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C4AE0-3CC0-EFA1-0C41-ED19499C3357}"/>
              </a:ext>
            </a:extLst>
          </p:cNvPr>
          <p:cNvSpPr txBox="1"/>
          <p:nvPr/>
        </p:nvSpPr>
        <p:spPr>
          <a:xfrm>
            <a:off x="575372" y="1873522"/>
            <a:ext cx="525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value determination using probe: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Water (D.W) = 7.2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Water (T.W) = 8.4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Cement Filtrate (C.F) = 13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85C7E-36F6-010E-67AE-F1A028E614AB}"/>
              </a:ext>
            </a:extLst>
          </p:cNvPr>
          <p:cNvSpPr txBox="1"/>
          <p:nvPr/>
        </p:nvSpPr>
        <p:spPr>
          <a:xfrm>
            <a:off x="627502" y="4219333"/>
            <a:ext cx="5116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1, 5, 10, 30, 60 min, 3 and 24 h after the SAP/liquid contact, the tea-bag with swollen SAP was taken out, gently wiped with a dry gauze, and weighed (mass mTB3)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00443B-FEBF-7BF0-00E9-C578462CBB36}"/>
              </a:ext>
            </a:extLst>
          </p:cNvPr>
          <p:cNvGrpSpPr/>
          <p:nvPr/>
        </p:nvGrpSpPr>
        <p:grpSpPr>
          <a:xfrm>
            <a:off x="3933338" y="507775"/>
            <a:ext cx="7102549" cy="6195038"/>
            <a:chOff x="4651093" y="185962"/>
            <a:chExt cx="7102549" cy="619503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D0F4DE5-8AD4-8557-9E55-D342AFC49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7693" y="186601"/>
              <a:ext cx="2345642" cy="3357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B3A3E4-8A37-870F-4253-CCFB04ADC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6735" y="185962"/>
              <a:ext cx="2345641" cy="3357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D0F7-DCAC-ACB3-1C57-F0EDBDDF1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990813" y="2618171"/>
              <a:ext cx="2762377" cy="4763281"/>
            </a:xfrm>
            <a:prstGeom prst="rect">
              <a:avLst/>
            </a:prstGeom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85D01E7-6677-FF0B-AA5A-D372D7BE4927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6101518" y="1699053"/>
              <a:ext cx="2068037" cy="153490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F7DF93-314D-02CA-604B-24CF2869AFBF}"/>
                </a:ext>
              </a:extLst>
            </p:cNvPr>
            <p:cNvSpPr txBox="1"/>
            <p:nvPr/>
          </p:nvSpPr>
          <p:spPr>
            <a:xfrm>
              <a:off x="4651093" y="3233958"/>
              <a:ext cx="29008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 measuring probe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279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1F6A-9C37-48A5-C3DB-372B5CA7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DED3-F414-E2BD-91E3-8AACCA13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00" y="1153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Tea-bag Absorption Test Results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BD58-750B-A679-4492-DF6BDAEF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D0FA4-F89B-80D2-AA8C-26402C80EC3F}"/>
              </a:ext>
            </a:extLst>
          </p:cNvPr>
          <p:cNvSpPr txBox="1"/>
          <p:nvPr/>
        </p:nvSpPr>
        <p:spPr>
          <a:xfrm>
            <a:off x="552000" y="1381075"/>
            <a:ext cx="705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Capacity Curves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results shows average of the three trials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495FE4-941D-DBE3-29FA-CB4AF71EC005}"/>
              </a:ext>
            </a:extLst>
          </p:cNvPr>
          <p:cNvSpPr/>
          <p:nvPr/>
        </p:nvSpPr>
        <p:spPr>
          <a:xfrm>
            <a:off x="408000" y="2205000"/>
            <a:ext cx="3528000" cy="316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15140E-1F8E-0BBD-A290-5317CC01A9B1}"/>
              </a:ext>
            </a:extLst>
          </p:cNvPr>
          <p:cNvSpPr/>
          <p:nvPr/>
        </p:nvSpPr>
        <p:spPr>
          <a:xfrm>
            <a:off x="4368000" y="2205000"/>
            <a:ext cx="3528000" cy="316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341ED-1ED2-AA83-80B3-394D334B2624}"/>
              </a:ext>
            </a:extLst>
          </p:cNvPr>
          <p:cNvSpPr/>
          <p:nvPr/>
        </p:nvSpPr>
        <p:spPr>
          <a:xfrm>
            <a:off x="8328000" y="2205000"/>
            <a:ext cx="3528000" cy="316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D73C3-04CD-F9E3-C742-5083921E1F51}"/>
              </a:ext>
            </a:extLst>
          </p:cNvPr>
          <p:cNvSpPr txBox="1"/>
          <p:nvPr/>
        </p:nvSpPr>
        <p:spPr>
          <a:xfrm>
            <a:off x="1280400" y="5373000"/>
            <a:ext cx="17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Water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D6672-5FA6-658B-53BE-16C40B6EE98A}"/>
              </a:ext>
            </a:extLst>
          </p:cNvPr>
          <p:cNvSpPr txBox="1"/>
          <p:nvPr/>
        </p:nvSpPr>
        <p:spPr>
          <a:xfrm>
            <a:off x="5592000" y="5332890"/>
            <a:ext cx="17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Water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A9BD9-2359-DF42-FB05-F67702CB684F}"/>
              </a:ext>
            </a:extLst>
          </p:cNvPr>
          <p:cNvSpPr txBox="1"/>
          <p:nvPr/>
        </p:nvSpPr>
        <p:spPr>
          <a:xfrm>
            <a:off x="9264000" y="5332890"/>
            <a:ext cx="216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Cement Filtrate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AB3FAB-4EA5-D1BC-FAA1-229E3E0B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000" y="2517032"/>
            <a:ext cx="3456000" cy="27279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40FAA7-A18E-CC75-140A-56BA24D51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9" y="2351673"/>
            <a:ext cx="3456001" cy="2933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644600-69CB-236E-77C3-9B9394D0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000" y="2346123"/>
            <a:ext cx="3456000" cy="29208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205204-225F-E2CA-4498-F53FD76D8FAC}"/>
                  </a:ext>
                </a:extLst>
              </p14:cNvPr>
              <p14:cNvContentPartPr/>
              <p14:nvPr/>
            </p14:nvContentPartPr>
            <p14:xfrm>
              <a:off x="3014520" y="2458720"/>
              <a:ext cx="441360" cy="18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205204-225F-E2CA-4498-F53FD76D8F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51520" y="2396080"/>
                <a:ext cx="5670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3F45F2-65E1-B6EA-E018-484539130D5D}"/>
                  </a:ext>
                </a:extLst>
              </p14:cNvPr>
              <p14:cNvContentPartPr/>
              <p14:nvPr/>
            </p14:nvContentPartPr>
            <p14:xfrm>
              <a:off x="6942840" y="2671840"/>
              <a:ext cx="644400" cy="133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3F45F2-65E1-B6EA-E018-484539130D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79840" y="2608840"/>
                <a:ext cx="770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326FA15-344A-1AFA-0FE0-125E0BAC2AF1}"/>
                  </a:ext>
                </a:extLst>
              </p14:cNvPr>
              <p14:cNvContentPartPr/>
              <p14:nvPr/>
            </p14:nvContentPartPr>
            <p14:xfrm>
              <a:off x="10944960" y="2529640"/>
              <a:ext cx="506520" cy="384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326FA15-344A-1AFA-0FE0-125E0BAC2A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82320" y="2467000"/>
                <a:ext cx="632160" cy="51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579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3AF6-1321-923C-41E5-0605073C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CC20-9FE8-1BDA-9461-E95B09F6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84" y="5911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Tea-bag Absorption Test Results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0CE05-3BEE-3BE0-3A1E-A532E8CC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A5293-951E-3B4A-647E-6BEFD9A348A8}"/>
              </a:ext>
            </a:extLst>
          </p:cNvPr>
          <p:cNvSpPr/>
          <p:nvPr/>
        </p:nvSpPr>
        <p:spPr>
          <a:xfrm>
            <a:off x="878286" y="1709705"/>
            <a:ext cx="5001714" cy="4538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37725-2FCD-40B6-98BF-E15D72B682AC}"/>
              </a:ext>
            </a:extLst>
          </p:cNvPr>
          <p:cNvSpPr/>
          <p:nvPr/>
        </p:nvSpPr>
        <p:spPr>
          <a:xfrm>
            <a:off x="6473964" y="1693925"/>
            <a:ext cx="5166035" cy="4538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2D6D46-770B-B7A3-9275-F6E63F54FB40}"/>
              </a:ext>
            </a:extLst>
          </p:cNvPr>
          <p:cNvSpPr txBox="1"/>
          <p:nvPr/>
        </p:nvSpPr>
        <p:spPr>
          <a:xfrm>
            <a:off x="2423361" y="6232857"/>
            <a:ext cx="17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Water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A9755-ED59-FFD1-A30F-D6B32D716D59}"/>
              </a:ext>
            </a:extLst>
          </p:cNvPr>
          <p:cNvSpPr txBox="1"/>
          <p:nvPr/>
        </p:nvSpPr>
        <p:spPr>
          <a:xfrm>
            <a:off x="8262600" y="6282031"/>
            <a:ext cx="17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A133F-ED79-A056-CE88-E256C011320E}"/>
              </a:ext>
            </a:extLst>
          </p:cNvPr>
          <p:cNvSpPr txBox="1"/>
          <p:nvPr/>
        </p:nvSpPr>
        <p:spPr>
          <a:xfrm>
            <a:off x="755589" y="1167304"/>
            <a:ext cx="56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values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3C12E-3C36-D9A4-BF36-A01A72ADB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43" y="1955433"/>
            <a:ext cx="4824000" cy="4196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94A0D0-5994-8CAD-44EE-FA1E921B9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293" y="1845000"/>
            <a:ext cx="4831375" cy="4354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D2983F-8147-42AE-20B0-71C3C5E2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000" y="1955433"/>
            <a:ext cx="807817" cy="9873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4EB4AE-EFF6-C717-9D8F-F603D2805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000" y="1955433"/>
            <a:ext cx="807817" cy="9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3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95CA-0598-492D-BA10-6D26DE6C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648F-34C2-AB45-99EA-23B248EB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86" y="5196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Desorption Test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BABF3-D2B2-07FE-8F79-61FC7332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378D4-DB2A-81BE-EDE2-90EB628A27F7}"/>
              </a:ext>
            </a:extLst>
          </p:cNvPr>
          <p:cNvSpPr txBox="1"/>
          <p:nvPr/>
        </p:nvSpPr>
        <p:spPr>
          <a:xfrm>
            <a:off x="529642" y="1292645"/>
            <a:ext cx="705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dry desorption in environmental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shows desorption rate of the SAP with number of days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82826-C6B7-5AEC-68AA-7C81703380D7}"/>
              </a:ext>
            </a:extLst>
          </p:cNvPr>
          <p:cNvSpPr/>
          <p:nvPr/>
        </p:nvSpPr>
        <p:spPr>
          <a:xfrm>
            <a:off x="226350" y="2314898"/>
            <a:ext cx="3936000" cy="3466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0E6AC-8F80-0865-34E8-30EAB231558A}"/>
              </a:ext>
            </a:extLst>
          </p:cNvPr>
          <p:cNvSpPr/>
          <p:nvPr/>
        </p:nvSpPr>
        <p:spPr>
          <a:xfrm>
            <a:off x="4400550" y="2314898"/>
            <a:ext cx="3661652" cy="3463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7F334-1922-D032-EA5B-A7A427B6F12B}"/>
              </a:ext>
            </a:extLst>
          </p:cNvPr>
          <p:cNvSpPr txBox="1"/>
          <p:nvPr/>
        </p:nvSpPr>
        <p:spPr>
          <a:xfrm>
            <a:off x="1208398" y="5780466"/>
            <a:ext cx="17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Water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6F006-FDC3-DD9C-3790-E1086B68DC04}"/>
              </a:ext>
            </a:extLst>
          </p:cNvPr>
          <p:cNvSpPr txBox="1"/>
          <p:nvPr/>
        </p:nvSpPr>
        <p:spPr>
          <a:xfrm>
            <a:off x="5489850" y="5780466"/>
            <a:ext cx="17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Water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75F7CE-AD39-C2A5-EFB2-B227C9279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200" y="2029242"/>
            <a:ext cx="3415200" cy="391975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2E45EC-D8CC-C35B-83E5-1005EA5683FF}"/>
              </a:ext>
            </a:extLst>
          </p:cNvPr>
          <p:cNvCxnSpPr>
            <a:cxnSpLocks/>
          </p:cNvCxnSpPr>
          <p:nvPr/>
        </p:nvCxnSpPr>
        <p:spPr>
          <a:xfrm flipH="1" flipV="1">
            <a:off x="9433952" y="992960"/>
            <a:ext cx="548248" cy="20760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32910E-B8F8-7745-3E70-EE3D8C9ACE66}"/>
              </a:ext>
            </a:extLst>
          </p:cNvPr>
          <p:cNvSpPr txBox="1"/>
          <p:nvPr/>
        </p:nvSpPr>
        <p:spPr>
          <a:xfrm>
            <a:off x="8633400" y="730083"/>
            <a:ext cx="1941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Whatman filter paper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C4E93A-252A-2072-BA17-4170E01E6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5" y="2599350"/>
            <a:ext cx="3826350" cy="3069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ECA1E8-7D40-B068-942E-EA301044A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776" y="2493420"/>
            <a:ext cx="3415200" cy="3285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7A3186-B18B-DA09-C0B1-4945448A4E21}"/>
                  </a:ext>
                </a:extLst>
              </p14:cNvPr>
              <p14:cNvContentPartPr/>
              <p14:nvPr/>
            </p14:nvContentPartPr>
            <p14:xfrm>
              <a:off x="3156922" y="2736643"/>
              <a:ext cx="414000" cy="11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7A3186-B18B-DA09-C0B1-4945448A4E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3922" y="2674003"/>
                <a:ext cx="5396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5118896-D2C5-0A53-7241-A1BC8B7F3719}"/>
                  </a:ext>
                </a:extLst>
              </p14:cNvPr>
              <p14:cNvContentPartPr/>
              <p14:nvPr/>
            </p14:nvContentPartPr>
            <p14:xfrm>
              <a:off x="6872482" y="2650243"/>
              <a:ext cx="713160" cy="151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5118896-D2C5-0A53-7241-A1BC8B7F37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09842" y="2587603"/>
                <a:ext cx="838800" cy="27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2704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0470-6374-2D59-CE6D-85C9F4FB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22E5-121D-AF82-8CD4-82D956F9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05" y="4707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B25D6-C34C-D8B3-5E81-2FEBECD3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12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F8C81-5370-B527-DA5F-A7F54963A77B}"/>
              </a:ext>
            </a:extLst>
          </p:cNvPr>
          <p:cNvSpPr txBox="1"/>
          <p:nvPr/>
        </p:nvSpPr>
        <p:spPr>
          <a:xfrm>
            <a:off x="760874" y="1371641"/>
            <a:ext cx="10406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absorption-desorption behaviour: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E32C0A0-A2EE-B8D8-717E-4353FF4A1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589"/>
            <a:ext cx="1071309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absorbs highly in distilled water (380–420%), moderately in tap water (230–260%), and very poorly in cement filtrate (&lt;60%).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SAP must be pre-wetted before adding to concrete.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Desorption: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releases water slowly at 7–13 gm/day, providing continuous moisture for several days.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Distilled water SAP desorbs slightly more than tap-water SAP due to higher initial swelling.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behaviour supports the internal curing mechanism: SAP provides internal curing water once the external curing might be insufficient, ensuring better hydration and reducing self-desiccation.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86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95F3-3577-465E-3713-2234ECBA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82FF223-1229-BEBC-6E59-108B6675071D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2FE4CC-B514-93D2-45B6-C14E6AE94A6C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62EF41-F3EB-AEB8-2BB5-939310F41B03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9ADEF5-BFD9-9105-0224-5DC0CDC5F675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75DCAC-5B89-1243-A277-A7A38AEFE9CC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AA3D41D-89E7-F0D0-585D-DE5FE24C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4E6689-F541-E645-5FAA-4044D051D0D0}"/>
              </a:ext>
            </a:extLst>
          </p:cNvPr>
          <p:cNvSpPr txBox="1"/>
          <p:nvPr/>
        </p:nvSpPr>
        <p:spPr>
          <a:xfrm>
            <a:off x="4523914" y="1502531"/>
            <a:ext cx="4343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11E771-15FF-A9A0-6897-67EA9F5B415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36104" y="2923791"/>
            <a:ext cx="89197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effects of Super-absorbing polymer on fresh and hardened concrete properties.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DCC8FA-2BF2-F39D-5D4D-E9D96B35B4B5}"/>
              </a:ext>
            </a:extLst>
          </p:cNvPr>
          <p:cNvSpPr/>
          <p:nvPr/>
        </p:nvSpPr>
        <p:spPr>
          <a:xfrm>
            <a:off x="3709984" y="1379420"/>
            <a:ext cx="4772025" cy="95410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9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03A0-FA76-4A24-56F3-F0336925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BF71-0BBE-7529-6891-FE504730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94" y="2610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 Concrete Test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Slump Test-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62F1-363A-E207-4D5D-5124096D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14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90E26-827B-C70B-D96E-9CF6B09B6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897" y="2110489"/>
            <a:ext cx="3168000" cy="422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CC84E-4C1D-5AF0-E80F-B55F6E9E9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00" y="2116939"/>
            <a:ext cx="3168000" cy="422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6315B-0234-9C40-5C8C-025279434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0" y="2110489"/>
            <a:ext cx="3287478" cy="4224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12AE8F-302B-9DDD-C2A5-C6FDE0D086AF}"/>
              </a:ext>
            </a:extLst>
          </p:cNvPr>
          <p:cNvCxnSpPr>
            <a:cxnSpLocks/>
          </p:cNvCxnSpPr>
          <p:nvPr/>
        </p:nvCxnSpPr>
        <p:spPr>
          <a:xfrm flipH="1" flipV="1">
            <a:off x="7824000" y="1413000"/>
            <a:ext cx="1008000" cy="4536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1C221B-BFCB-3D2F-49E0-DEFC82ADA4B5}"/>
              </a:ext>
            </a:extLst>
          </p:cNvPr>
          <p:cNvCxnSpPr>
            <a:cxnSpLocks/>
          </p:cNvCxnSpPr>
          <p:nvPr/>
        </p:nvCxnSpPr>
        <p:spPr>
          <a:xfrm flipV="1">
            <a:off x="2568000" y="1586563"/>
            <a:ext cx="2880000" cy="34984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7AEE31-2ADC-94E0-A8DC-DDF040A949B1}"/>
              </a:ext>
            </a:extLst>
          </p:cNvPr>
          <p:cNvSpPr txBox="1"/>
          <p:nvPr/>
        </p:nvSpPr>
        <p:spPr>
          <a:xfrm>
            <a:off x="5084103" y="971364"/>
            <a:ext cx="1941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Tamping and measuring rod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A97C1-4317-BFC8-303D-FCD87FF8618C}"/>
              </a:ext>
            </a:extLst>
          </p:cNvPr>
          <p:cNvSpPr txBox="1"/>
          <p:nvPr/>
        </p:nvSpPr>
        <p:spPr>
          <a:xfrm>
            <a:off x="7392000" y="1063516"/>
            <a:ext cx="1293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Slump cone</a:t>
            </a:r>
          </a:p>
        </p:txBody>
      </p:sp>
    </p:spTree>
    <p:extLst>
      <p:ext uri="{BB962C8B-B14F-4D97-AF65-F5344CB8AC3E}">
        <p14:creationId xmlns:p14="http://schemas.microsoft.com/office/powerpoint/2010/main" val="3615279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4C9F-097F-5A51-B3F5-763D08CC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4431-3C72-B205-23E1-66E18DAD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80" y="38631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 Concrete Test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071D-3416-D68D-2680-3BFCBCAC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400" y="6414437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/>
              <a:t>15</a:t>
            </a:fld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ECD5C-F08C-9CDF-97BC-36368C114C8E}"/>
              </a:ext>
            </a:extLst>
          </p:cNvPr>
          <p:cNvSpPr txBox="1"/>
          <p:nvPr/>
        </p:nvSpPr>
        <p:spPr>
          <a:xfrm>
            <a:off x="836389" y="1049098"/>
            <a:ext cx="2226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Slump Test-</a:t>
            </a:r>
            <a:endParaRPr lang="en-IN" sz="28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69A17E5-B368-D6DC-FE56-DE0A7F0D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693463"/>
              </p:ext>
            </p:extLst>
          </p:nvPr>
        </p:nvGraphicFramePr>
        <p:xfrm>
          <a:off x="6841615" y="294565"/>
          <a:ext cx="5068645" cy="6119867"/>
        </p:xfrm>
        <a:graphic>
          <a:graphicData uri="http://schemas.openxmlformats.org/drawingml/2006/table">
            <a:tbl>
              <a:tblPr/>
              <a:tblGrid>
                <a:gridCol w="1148412">
                  <a:extLst>
                    <a:ext uri="{9D8B030D-6E8A-4147-A177-3AD203B41FA5}">
                      <a16:colId xmlns:a16="http://schemas.microsoft.com/office/drawing/2014/main" val="1889165823"/>
                    </a:ext>
                  </a:extLst>
                </a:gridCol>
                <a:gridCol w="1142399">
                  <a:extLst>
                    <a:ext uri="{9D8B030D-6E8A-4147-A177-3AD203B41FA5}">
                      <a16:colId xmlns:a16="http://schemas.microsoft.com/office/drawing/2014/main" val="2617496391"/>
                    </a:ext>
                  </a:extLst>
                </a:gridCol>
                <a:gridCol w="1701573">
                  <a:extLst>
                    <a:ext uri="{9D8B030D-6E8A-4147-A177-3AD203B41FA5}">
                      <a16:colId xmlns:a16="http://schemas.microsoft.com/office/drawing/2014/main" val="3696653683"/>
                    </a:ext>
                  </a:extLst>
                </a:gridCol>
                <a:gridCol w="1076261">
                  <a:extLst>
                    <a:ext uri="{9D8B030D-6E8A-4147-A177-3AD203B41FA5}">
                      <a16:colId xmlns:a16="http://schemas.microsoft.com/office/drawing/2014/main" val="3260984851"/>
                    </a:ext>
                  </a:extLst>
                </a:gridCol>
              </a:tblGrid>
              <a:tr h="7121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Composition Number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Cement Ratio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SAP Dosage (% of cement by wt)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Slump Value (mm)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9841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17197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87099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99905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655584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509148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98807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618284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193391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258639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92284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723253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34096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341388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489915"/>
                  </a:ext>
                </a:extLst>
              </a:tr>
              <a:tr h="36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779" marR="5779" marT="577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53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2D83E5-935B-DA88-8FAC-3D5B8B8F6D69}"/>
              </a:ext>
            </a:extLst>
          </p:cNvPr>
          <p:cNvSpPr txBox="1"/>
          <p:nvPr/>
        </p:nvSpPr>
        <p:spPr>
          <a:xfrm>
            <a:off x="1215256" y="2565693"/>
            <a:ext cx="416145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SAP dosage variations- SAP dosage     Slump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water-cement ratio variations- w/c     Slump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used in pre-wet condition and in suitable dosage, SAP provides the required workability which we lack in concrete with low water cement ratio.  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C9BB0404-47F4-652E-4EA9-BE27853253D0}"/>
              </a:ext>
            </a:extLst>
          </p:cNvPr>
          <p:cNvSpPr/>
          <p:nvPr/>
        </p:nvSpPr>
        <p:spPr>
          <a:xfrm>
            <a:off x="2921060" y="2937953"/>
            <a:ext cx="141395" cy="346328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5657DC5-45D3-8726-CD57-E7443B83D6F4}"/>
              </a:ext>
            </a:extLst>
          </p:cNvPr>
          <p:cNvSpPr/>
          <p:nvPr/>
        </p:nvSpPr>
        <p:spPr>
          <a:xfrm>
            <a:off x="4175592" y="3872594"/>
            <a:ext cx="141395" cy="346328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665881ED-3BE6-E27A-B551-85F54A1C8358}"/>
              </a:ext>
            </a:extLst>
          </p:cNvPr>
          <p:cNvSpPr/>
          <p:nvPr/>
        </p:nvSpPr>
        <p:spPr>
          <a:xfrm>
            <a:off x="3876201" y="2947284"/>
            <a:ext cx="141395" cy="346328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1CDAA8FF-399A-FE2A-EEB4-9EB27A34BBA1}"/>
              </a:ext>
            </a:extLst>
          </p:cNvPr>
          <p:cNvSpPr/>
          <p:nvPr/>
        </p:nvSpPr>
        <p:spPr>
          <a:xfrm>
            <a:off x="3188813" y="3872594"/>
            <a:ext cx="141395" cy="346328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06441-41A2-A2CF-9CEE-6020CA35D68C}"/>
              </a:ext>
            </a:extLst>
          </p:cNvPr>
          <p:cNvSpPr txBox="1"/>
          <p:nvPr/>
        </p:nvSpPr>
        <p:spPr>
          <a:xfrm>
            <a:off x="1215256" y="2084140"/>
            <a:ext cx="5475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</a:t>
            </a:r>
          </a:p>
        </p:txBody>
      </p:sp>
    </p:spTree>
    <p:extLst>
      <p:ext uri="{BB962C8B-B14F-4D97-AF65-F5344CB8AC3E}">
        <p14:creationId xmlns:p14="http://schemas.microsoft.com/office/powerpoint/2010/main" val="2002037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4687-7AB4-D662-7023-0258CF33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41D4-4A05-01B3-B5F1-831094B8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94" y="261000"/>
            <a:ext cx="10515600" cy="135149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Hardened Concrete Test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3F8B7-D439-69A3-9463-F843BCBE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16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E8957-DCDC-4D03-F2FD-B4F124A2A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44" t="7135" r="6688" b="1895"/>
          <a:stretch>
            <a:fillRect/>
          </a:stretch>
        </p:blipFill>
        <p:spPr>
          <a:xfrm>
            <a:off x="380745" y="2766544"/>
            <a:ext cx="5329590" cy="3323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A017DA-DA4D-F010-77A7-F39CF450AB74}"/>
              </a:ext>
            </a:extLst>
          </p:cNvPr>
          <p:cNvSpPr txBox="1"/>
          <p:nvPr/>
        </p:nvSpPr>
        <p:spPr>
          <a:xfrm>
            <a:off x="844050" y="1350880"/>
            <a:ext cx="420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Strength Test-</a:t>
            </a:r>
            <a:endParaRPr lang="en-IN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2A5D62-8033-47DB-82D7-24E5032D0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34" y="2201768"/>
            <a:ext cx="2823420" cy="3888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0AD236-916B-352A-7CBA-88787282E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708" y="2201768"/>
            <a:ext cx="2689445" cy="38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8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DA68-BC90-BBBE-74B0-86EBD323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52655ED-CBEA-5D20-4A35-EF0223807624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AF23BB-4D9A-1FD0-BBA0-5CDA6F2FF908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A5CBE8-F47F-6E80-96CF-7FBA8A24D98D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8E01F3-F958-9A0A-CB8B-BE1CAEE43DED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18CE01-2EA6-23A4-D655-3149213F90D0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9051BB7-DC75-61A7-B572-C744E314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1142C-052B-4E0D-4D36-512DDA73BF63}"/>
              </a:ext>
            </a:extLst>
          </p:cNvPr>
          <p:cNvSpPr txBox="1"/>
          <p:nvPr/>
        </p:nvSpPr>
        <p:spPr>
          <a:xfrm>
            <a:off x="4605281" y="1502531"/>
            <a:ext cx="4343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9117C-1461-0B68-B424-8034989F7D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36104" y="2923790"/>
            <a:ext cx="89197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determine the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dosage of SAP with a suitable low water-cement ratio.”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933F0-4A16-5DA0-0A6D-67A02EE99D9E}"/>
              </a:ext>
            </a:extLst>
          </p:cNvPr>
          <p:cNvSpPr/>
          <p:nvPr/>
        </p:nvSpPr>
        <p:spPr>
          <a:xfrm>
            <a:off x="3709984" y="1379420"/>
            <a:ext cx="4772025" cy="95410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29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1A191-83E2-BC86-F9BE-17BACCA5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552E0F0-B833-AA6A-ABD3-9BFD1D2DABC0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815F57-605C-7499-7A47-63A800341F80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0C0632-55C1-4241-68B6-FE49D43AAB02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FE7F90-357B-A3A8-DD67-A898FA5C155C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4D9862-5185-F5D4-4988-D6A4830FD027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0C05417-C1E5-1E81-0A2A-F0DA9758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B1EEE6-2537-5D02-2B76-F20C641F1BE2}"/>
              </a:ext>
            </a:extLst>
          </p:cNvPr>
          <p:cNvSpPr txBox="1"/>
          <p:nvPr/>
        </p:nvSpPr>
        <p:spPr>
          <a:xfrm>
            <a:off x="2115262" y="217239"/>
            <a:ext cx="732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7-Day Compressive Strength Test: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087FDE-5D28-D629-52FD-CD3408D6CF28}"/>
              </a:ext>
            </a:extLst>
          </p:cNvPr>
          <p:cNvSpPr/>
          <p:nvPr/>
        </p:nvSpPr>
        <p:spPr>
          <a:xfrm>
            <a:off x="1408916" y="1022676"/>
            <a:ext cx="9221676" cy="51923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89F491-2F65-9398-D4F8-7CAED738A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08" y="1069276"/>
            <a:ext cx="8769181" cy="511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492B-0E74-8A0E-DC58-5F846876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91F17E4-3254-3829-D4F8-20F8AF741F27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EB32E9-3AFF-BB4D-6E75-27662C56D1FA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1AD42D-447F-6D11-7A96-95EBBDC44F0B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2ED4A8-BEF1-2073-9853-79766255991A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7C1CF-7886-103F-9601-DAE013D04D55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AF2E737-59BB-5221-4643-988BFD46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D9E07-0668-8F1B-8D4A-88C13D3CECEA}"/>
              </a:ext>
            </a:extLst>
          </p:cNvPr>
          <p:cNvSpPr txBox="1"/>
          <p:nvPr/>
        </p:nvSpPr>
        <p:spPr>
          <a:xfrm>
            <a:off x="2303411" y="531447"/>
            <a:ext cx="732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7-Day Compressive Strength Test: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D88D7-FEB4-8B71-7F1C-48B0BE9A68E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3555" y="1690061"/>
            <a:ext cx="1106076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w/c = 0.38 with 0.2 SAP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Excess SAP (0.6%) → reduces strength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depend on the dosage and water–cement ratio; there is no general trend.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dosage lies between 0.2 and 0.4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411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814A-A9D9-6FB6-B223-DC7C4B98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3827AE1-D9CD-1C61-D384-E38D9D3B357F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1F5907-2FC9-DC1A-C501-73BD9C4DC54A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918F1E-CC83-CE20-86C4-E7508DBBC440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76A7BE-5029-6BE1-1506-4D26DDDBDA39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192268-6FC6-7760-0070-88DB951C5DD7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9C481D3-DF62-D759-499F-10069F42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831BB3-9DB4-7255-BCFC-32D613B557AF}"/>
              </a:ext>
            </a:extLst>
          </p:cNvPr>
          <p:cNvSpPr/>
          <p:nvPr/>
        </p:nvSpPr>
        <p:spPr>
          <a:xfrm>
            <a:off x="1408916" y="1022676"/>
            <a:ext cx="9221676" cy="51923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5275E-130D-92D6-D0B2-89345408B2DA}"/>
              </a:ext>
            </a:extLst>
          </p:cNvPr>
          <p:cNvSpPr txBox="1"/>
          <p:nvPr/>
        </p:nvSpPr>
        <p:spPr>
          <a:xfrm>
            <a:off x="2095727" y="185688"/>
            <a:ext cx="77005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28-Day Compressive Strength Test: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B22C6-C14A-1D26-DA31-DBA92652F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313" y="1087143"/>
            <a:ext cx="8603373" cy="501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46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8ADA-42D2-4ECB-2367-5D013803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FC4D09D-1F49-36E8-9692-E50FE47BE027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8CC1526-3876-30B1-AC9C-FF117E3E27C4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4E1316-7741-B6E2-AD34-95FA9DB61D72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678B4A-8673-B153-1FF2-2B3D256B31BE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CB6906-4392-CE40-62B3-49BD8D260145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B30EA82-414F-B422-0A49-7B6F41D1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F3C46E-CFA6-D60A-3897-DBAB61F56321}"/>
              </a:ext>
            </a:extLst>
          </p:cNvPr>
          <p:cNvSpPr txBox="1"/>
          <p:nvPr/>
        </p:nvSpPr>
        <p:spPr>
          <a:xfrm>
            <a:off x="2255828" y="599549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28-Day Compressive Strength Test: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D7C50-D190-7891-4408-BCA2FCACCE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7835" y="1758163"/>
            <a:ext cx="1159275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w/c = 0.40 → 0.2% SAP gives highest strength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w/c = 0.36 → 0.4% SAP performs best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w/c = 0.34 → higher SAP improves strength due to internal curing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effect increases as w/c decreases, meaning that SAP’s effect is greater in low w/c ratio concrete.</a:t>
            </a:r>
          </a:p>
        </p:txBody>
      </p:sp>
    </p:spTree>
    <p:extLst>
      <p:ext uri="{BB962C8B-B14F-4D97-AF65-F5344CB8AC3E}">
        <p14:creationId xmlns:p14="http://schemas.microsoft.com/office/powerpoint/2010/main" val="4244432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69272-C9AD-52FF-B1A2-2747A9D6A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862A59F-7D3B-7C5D-DDAA-9DF6703CFBE2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03EF9E-D684-1253-3C4D-B2424188124D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FC8638-CC43-936F-CF70-353EBF8AA787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BB5076-E576-8359-18B2-10A416679509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A646C3-F965-B9C3-684E-9152D8D61D91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3361D6D-EACC-B525-1034-47938AB0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D7582C-0E8C-6C10-F249-EEF55C16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98745"/>
              </p:ext>
            </p:extLst>
          </p:nvPr>
        </p:nvGraphicFramePr>
        <p:xfrm>
          <a:off x="1203536" y="2110841"/>
          <a:ext cx="9278565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92855">
                  <a:extLst>
                    <a:ext uri="{9D8B030D-6E8A-4147-A177-3AD203B41FA5}">
                      <a16:colId xmlns:a16="http://schemas.microsoft.com/office/drawing/2014/main" val="1599622577"/>
                    </a:ext>
                  </a:extLst>
                </a:gridCol>
                <a:gridCol w="3092855">
                  <a:extLst>
                    <a:ext uri="{9D8B030D-6E8A-4147-A177-3AD203B41FA5}">
                      <a16:colId xmlns:a16="http://schemas.microsoft.com/office/drawing/2014/main" val="3633905844"/>
                    </a:ext>
                  </a:extLst>
                </a:gridCol>
                <a:gridCol w="3092855">
                  <a:extLst>
                    <a:ext uri="{9D8B030D-6E8A-4147-A177-3AD203B41FA5}">
                      <a16:colId xmlns:a16="http://schemas.microsoft.com/office/drawing/2014/main" val="989434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Concrete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Avg. 7-Day Strength (MPa)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Avg. 28-Day Strength (MPa)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82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Without SAP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27.8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29.2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5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With SAP (0.2%)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23.8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32.1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134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2F8A53-01A5-AD67-A8EB-A0CBC7D64806}"/>
              </a:ext>
            </a:extLst>
          </p:cNvPr>
          <p:cNvSpPr txBox="1"/>
          <p:nvPr/>
        </p:nvSpPr>
        <p:spPr>
          <a:xfrm>
            <a:off x="1203536" y="1690708"/>
            <a:ext cx="37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11D94-7CBD-0AC4-BD91-DCCF96558961}"/>
              </a:ext>
            </a:extLst>
          </p:cNvPr>
          <p:cNvSpPr txBox="1"/>
          <p:nvPr/>
        </p:nvSpPr>
        <p:spPr>
          <a:xfrm>
            <a:off x="1203536" y="3429000"/>
            <a:ext cx="92785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 days → Without SAP &gt; With SAP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28 days → SAP mix shows comparable / higher strength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age →     SAP ↓ strength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age →     SAP ↑ hydration     →    ↑ strength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3D8862-2F84-B205-0801-EE0A440D361B}"/>
              </a:ext>
            </a:extLst>
          </p:cNvPr>
          <p:cNvSpPr txBox="1"/>
          <p:nvPr/>
        </p:nvSpPr>
        <p:spPr>
          <a:xfrm>
            <a:off x="845574" y="160952"/>
            <a:ext cx="10412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compressive strength with and without SAP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71DCA8-6EC5-5F11-C921-C2E547685CFB}"/>
              </a:ext>
            </a:extLst>
          </p:cNvPr>
          <p:cNvSpPr txBox="1"/>
          <p:nvPr/>
        </p:nvSpPr>
        <p:spPr>
          <a:xfrm>
            <a:off x="358877" y="952623"/>
            <a:ext cx="11474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“To compare and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strength of concrete with and without SAP.”</a:t>
            </a:r>
          </a:p>
        </p:txBody>
      </p:sp>
    </p:spTree>
    <p:extLst>
      <p:ext uri="{BB962C8B-B14F-4D97-AF65-F5344CB8AC3E}">
        <p14:creationId xmlns:p14="http://schemas.microsoft.com/office/powerpoint/2010/main" val="1331175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3A3D7-1476-2A28-5F6A-C9E80F3E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0DA134-CBED-03D8-CBE7-58099AABD8E4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493442-6929-1D0F-1A23-86574D6655CA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5E905C-2F17-EECA-C01B-32D30D944B07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135496-D64E-BB20-3A8F-B4158B8A5A58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89FC66-86A1-32DF-7ACB-A86641E495AF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06CC8AE-FAD8-DC40-8439-E1FEDAE6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948240-35EE-2C79-A8BD-5D553CA94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266851"/>
              </p:ext>
            </p:extLst>
          </p:nvPr>
        </p:nvGraphicFramePr>
        <p:xfrm>
          <a:off x="1574704" y="2535987"/>
          <a:ext cx="9278565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92855">
                  <a:extLst>
                    <a:ext uri="{9D8B030D-6E8A-4147-A177-3AD203B41FA5}">
                      <a16:colId xmlns:a16="http://schemas.microsoft.com/office/drawing/2014/main" val="1599622577"/>
                    </a:ext>
                  </a:extLst>
                </a:gridCol>
                <a:gridCol w="3092855">
                  <a:extLst>
                    <a:ext uri="{9D8B030D-6E8A-4147-A177-3AD203B41FA5}">
                      <a16:colId xmlns:a16="http://schemas.microsoft.com/office/drawing/2014/main" val="3633905844"/>
                    </a:ext>
                  </a:extLst>
                </a:gridCol>
                <a:gridCol w="3092855">
                  <a:extLst>
                    <a:ext uri="{9D8B030D-6E8A-4147-A177-3AD203B41FA5}">
                      <a16:colId xmlns:a16="http://schemas.microsoft.com/office/drawing/2014/main" val="989434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Curing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Avg. 7-Day Strength (MPa)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Avg. 28-Day Strength (MPa)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82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Conventional + Internal Curing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19.8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26.6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5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Internal Curing (SAP)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16.9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134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2AF324-5167-A9BA-4C2A-C8F7EF8AB297}"/>
              </a:ext>
            </a:extLst>
          </p:cNvPr>
          <p:cNvSpPr txBox="1"/>
          <p:nvPr/>
        </p:nvSpPr>
        <p:spPr>
          <a:xfrm>
            <a:off x="1515710" y="2118263"/>
            <a:ext cx="379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37DF9-9047-0BF8-3854-A31B59D70EDC}"/>
              </a:ext>
            </a:extLst>
          </p:cNvPr>
          <p:cNvSpPr txBox="1"/>
          <p:nvPr/>
        </p:nvSpPr>
        <p:spPr>
          <a:xfrm>
            <a:off x="1456716" y="3730051"/>
            <a:ext cx="92785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 days → Conventional + Internal &gt; Internal only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28 days → Combined curing gives the highest strength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curing water → better hydration → higher strength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689C5A-B169-C3EF-83E4-5F0406E58ED1}"/>
              </a:ext>
            </a:extLst>
          </p:cNvPr>
          <p:cNvSpPr txBox="1"/>
          <p:nvPr/>
        </p:nvSpPr>
        <p:spPr>
          <a:xfrm>
            <a:off x="909483" y="1019982"/>
            <a:ext cx="106090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internal curing and conventional curing and investigate their effects on concrete performance.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B7342-AD5B-4D7A-48F6-56A70195AA32}"/>
              </a:ext>
            </a:extLst>
          </p:cNvPr>
          <p:cNvSpPr txBox="1"/>
          <p:nvPr/>
        </p:nvSpPr>
        <p:spPr>
          <a:xfrm>
            <a:off x="480316" y="215312"/>
            <a:ext cx="10412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conventional curing and internal curing</a:t>
            </a:r>
          </a:p>
        </p:txBody>
      </p:sp>
    </p:spTree>
    <p:extLst>
      <p:ext uri="{BB962C8B-B14F-4D97-AF65-F5344CB8AC3E}">
        <p14:creationId xmlns:p14="http://schemas.microsoft.com/office/powerpoint/2010/main" val="400378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6AD7-47C9-8785-578A-4B349CC4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6DFDE9D-1DC5-B4BC-E7A3-B49401B7BA97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4A425F-C6BA-D192-1D8F-C840CB9952FA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DB395D-2B00-BD79-F858-1BFEDA380CFB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B9CC7-4380-FF68-B957-ED6D6B26C41D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54E229-5BD8-2CCF-46C0-B1AD7364369A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4F72309-E84C-6B0E-B26D-213532E4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1A87A-2156-81EE-5C27-7A4CF43BD54E}"/>
              </a:ext>
            </a:extLst>
          </p:cNvPr>
          <p:cNvSpPr txBox="1"/>
          <p:nvPr/>
        </p:nvSpPr>
        <p:spPr>
          <a:xfrm>
            <a:off x="4429521" y="1322629"/>
            <a:ext cx="3069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DC1DA0-40DB-3302-43C0-C9F635B21C6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86204" y="2644170"/>
            <a:ext cx="87558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perform predictive analysis using statistical and machine learning models based on experimental data.”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EFC9F2-D8CE-F9A7-F890-42B2499025AC}"/>
              </a:ext>
            </a:extLst>
          </p:cNvPr>
          <p:cNvSpPr/>
          <p:nvPr/>
        </p:nvSpPr>
        <p:spPr>
          <a:xfrm>
            <a:off x="4246278" y="1197779"/>
            <a:ext cx="3435679" cy="95758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0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F24A-DA92-B9CC-C73E-8DD267B7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B34A53-9A55-7693-9937-EC8CFB5E23FF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2E8CBA-D616-01B3-D082-CD94330914AE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D214FF-AC08-98F2-CF52-F9604B3FC48E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CA577E-6D2A-D7D9-5B2C-3BE47B5861B8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67741D-C7CC-0951-1CAB-59A72517EBE7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EF55AAA-DAB1-F280-2D5D-327B0E55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0A218-9E68-E161-8CDE-51710346667F}"/>
              </a:ext>
            </a:extLst>
          </p:cNvPr>
          <p:cNvSpPr txBox="1"/>
          <p:nvPr/>
        </p:nvSpPr>
        <p:spPr>
          <a:xfrm>
            <a:off x="300551" y="495603"/>
            <a:ext cx="4516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62E2E-F0FC-2FCB-6F60-DD2614DB38D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7246" y="1526869"/>
            <a:ext cx="517571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strength prediction is critical in construction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testing: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(7, 14, 28 days)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labour-intensive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prediction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materials 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compressive strength using ML instead of physical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8B0452-B558-252B-F421-FF3C01F7F2FE}"/>
              </a:ext>
            </a:extLst>
          </p:cNvPr>
          <p:cNvSpPr txBox="1"/>
          <p:nvPr/>
        </p:nvSpPr>
        <p:spPr>
          <a:xfrm>
            <a:off x="6739675" y="495602"/>
            <a:ext cx="3741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C8A4DF40-FDD0-8B9F-0D9F-94CDD9197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453" y="1192927"/>
            <a:ext cx="517571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ML model to predict concrete strength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effect of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%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Water-Cement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(Flask)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+ Explainability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00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17F0-F83B-055B-FD69-8B9092B0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6485761-4578-22A8-258F-B40D065E4289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64967A-C484-C963-7E45-0AB699DE4671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C8DF3B-75C9-F1AC-68ED-AB533DC1DFAD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C67614-F9E9-5012-7232-29921095C40C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3FB0FD-46A5-5AA1-E976-A80981613290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F43513B-D424-05C1-0E04-9FFCB805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E6491E-0DF4-0D0B-2DC8-9BFE7E805D08}"/>
              </a:ext>
            </a:extLst>
          </p:cNvPr>
          <p:cNvSpPr txBox="1"/>
          <p:nvPr/>
        </p:nvSpPr>
        <p:spPr>
          <a:xfrm>
            <a:off x="711508" y="236364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9DFDC4-D658-7195-46B5-1828663FD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263" y="1169675"/>
            <a:ext cx="6657474" cy="499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44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69CE-C32B-E24C-1DE1-B2DB236C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19E9F1E-A333-44AD-A645-58538F8DFA8E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4B9BC6-5508-0E59-2331-1232DCB089DF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547D75-0746-3532-BBCF-082DEF40F207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B82B6C-B333-EC94-3EEA-488A7DCBC442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E8EFA-0602-E8CB-6131-771D154B5C11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C9DABCF-961A-22D3-FF81-2EDB738B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3FABA4-8584-EB95-0AA3-A7FE2C1BFB20}"/>
              </a:ext>
            </a:extLst>
          </p:cNvPr>
          <p:cNvSpPr txBox="1"/>
          <p:nvPr/>
        </p:nvSpPr>
        <p:spPr>
          <a:xfrm>
            <a:off x="2255828" y="243897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3AFE8-58B8-30C7-29C2-8439520CD3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2"/>
          <a:stretch>
            <a:fillRect/>
          </a:stretch>
        </p:blipFill>
        <p:spPr>
          <a:xfrm>
            <a:off x="128337" y="1356724"/>
            <a:ext cx="5513148" cy="4542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10A64D-CF21-EC5C-FF9D-2886789474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62"/>
          <a:stretch>
            <a:fillRect/>
          </a:stretch>
        </p:blipFill>
        <p:spPr>
          <a:xfrm>
            <a:off x="5895866" y="1356724"/>
            <a:ext cx="5826986" cy="46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22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1306-0991-621F-8B4A-A10634C9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F3A813D-910E-39A5-382F-F5A336E68689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F4266B-D8B0-8176-85E5-D00F2BD96E04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3D5967-EC41-0F79-600A-1DF5FDFA49F3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76CED6-A6AD-E014-AB85-891450586F4E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F4334D-E223-F2D2-DE0F-8A83C77D4879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E70F8FB-5B4D-53A1-E382-5CA67158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85AC66-539B-61A8-69BC-08CB6FEA0A2B}"/>
              </a:ext>
            </a:extLst>
          </p:cNvPr>
          <p:cNvSpPr txBox="1"/>
          <p:nvPr/>
        </p:nvSpPr>
        <p:spPr>
          <a:xfrm>
            <a:off x="2255828" y="243897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2111EA-5D91-0078-CC9C-30E9B90ED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142" y="951783"/>
            <a:ext cx="9031716" cy="52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15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CE-A4B9-9116-34CC-FBA2CA7C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BD1E61-1B3F-DE7D-2075-7275958C124F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C22E1C-0929-6ED6-0F79-579CA1C34521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E95EDD-DA19-C1B8-14EC-D83B498075BE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4723C1-7F68-6B11-BDAE-BDEED8C96D71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1BFBD1-9DA5-C770-2EE4-FE2584D3743F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04421C2-A492-8FD0-663F-46412EC2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D060D-5325-1456-D77F-0F0EFE66D0A2}"/>
              </a:ext>
            </a:extLst>
          </p:cNvPr>
          <p:cNvSpPr txBox="1"/>
          <p:nvPr/>
        </p:nvSpPr>
        <p:spPr>
          <a:xfrm>
            <a:off x="2255828" y="243897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94205-E5CC-B34B-C893-EEE2DDD42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1261760"/>
            <a:ext cx="992643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27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A78A-BFAA-6A5F-46A4-6B7C7CD8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638C281-69CE-7ADC-EB6C-B49D290ED7C7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96F4628-3B6A-35BB-84E3-539290771204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D3CA20-F6C1-6871-5E39-46F24856C802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553FB3-44C1-B226-35DF-BFED862604A9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504E7A-103D-9ED4-BEA3-74392E6405B0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E9A7169-5897-D415-D7C8-798219B0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AD30A2-72D2-7374-3AD8-51674EF386EF}"/>
              </a:ext>
            </a:extLst>
          </p:cNvPr>
          <p:cNvSpPr txBox="1"/>
          <p:nvPr/>
        </p:nvSpPr>
        <p:spPr>
          <a:xfrm>
            <a:off x="2255828" y="243897"/>
            <a:ext cx="7680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Selection: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FB7938FD-F80A-973B-6122-B77A365C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66" y="657000"/>
            <a:ext cx="861060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Gradient Boosting Regressor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(Final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3E7AB-A10E-21B8-3C12-0D198BE6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241" y="4558019"/>
            <a:ext cx="4504391" cy="3048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DBADD6-424F-8050-2283-2073C8939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44" b="18862"/>
          <a:stretch>
            <a:fillRect/>
          </a:stretch>
        </p:blipFill>
        <p:spPr>
          <a:xfrm>
            <a:off x="1873941" y="4793719"/>
            <a:ext cx="8444118" cy="159755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D5D20640-0752-68DD-9D4A-CA0F9B34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65" y="1913305"/>
            <a:ext cx="1019113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Achieved the highest R² score (0.9144) indicating better prediction performance </a:t>
            </a: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Produced the lowest RMSE (1.9901) showing minimum prediction error </a:t>
            </a: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Obtained the lowest MAE (1.4265) ensuring more accurate predictions </a:t>
            </a: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Handles non-linear relationships effectively </a:t>
            </a: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Uses boosting (sequential learning) to improve model performance step-by-step </a:t>
            </a:r>
          </a:p>
          <a:p>
            <a:pPr marL="800100" marR="0" lvl="1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Provides better generalization compared to other evaluated models </a:t>
            </a:r>
          </a:p>
        </p:txBody>
      </p:sp>
    </p:spTree>
    <p:extLst>
      <p:ext uri="{BB962C8B-B14F-4D97-AF65-F5344CB8AC3E}">
        <p14:creationId xmlns:p14="http://schemas.microsoft.com/office/powerpoint/2010/main" val="4038694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CD2EB-297B-0E19-F1C4-5B4B7EB4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42DECF1-7823-5250-68C6-24401D0D9080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88B374-C58D-DC09-2D34-DE56A56B4FD6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C05EC8-0FBE-44C0-27E3-5DD38B01D978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06F104-8D14-5957-6DD1-920A9DD0CA36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26E6E9-650A-98F0-43EF-7D479C24CF09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BA271EA-5E1C-2DF3-B340-E4964A1E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0369A-D3BB-4F28-25DA-C2B3B6079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78" y="0"/>
            <a:ext cx="7922657" cy="63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39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B73B-0A0D-6DB5-FFCA-7E04C124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4428C6-6403-1B0F-BC99-AF650BACCAD9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1EBFCE-8932-CDE0-9A75-CCF790BBC16D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9E6D31-1513-EC52-13C0-4D5388ECF37D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2B2AEF-7715-11F6-4157-AA704F331D58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F3B1B0-9E88-83B2-FDB0-E1A37977326C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15A0A4B-232C-B42E-CB9B-97D7F2E7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75D7FB-953E-7D26-964D-46C36E24A7C3}"/>
              </a:ext>
            </a:extLst>
          </p:cNvPr>
          <p:cNvSpPr txBox="1"/>
          <p:nvPr/>
        </p:nvSpPr>
        <p:spPr>
          <a:xfrm>
            <a:off x="838200" y="292083"/>
            <a:ext cx="406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99C5D8-33FE-290B-705C-FBB7B186996B}"/>
              </a:ext>
            </a:extLst>
          </p:cNvPr>
          <p:cNvSpPr txBox="1"/>
          <p:nvPr/>
        </p:nvSpPr>
        <p:spPr>
          <a:xfrm>
            <a:off x="351139" y="5155711"/>
            <a:ext cx="465806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are close to diagonal line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prediction accuracy</a:t>
            </a:r>
            <a:r>
              <a:rPr lang="en-US" sz="2000" dirty="0"/>
              <a:t> 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CD676-7D93-2CF7-9C38-3F8F6378F97E}"/>
              </a:ext>
            </a:extLst>
          </p:cNvPr>
          <p:cNvSpPr txBox="1"/>
          <p:nvPr/>
        </p:nvSpPr>
        <p:spPr>
          <a:xfrm>
            <a:off x="7212978" y="287166"/>
            <a:ext cx="4262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FF0FA-A9B2-1464-8517-A113DE625DCA}"/>
              </a:ext>
            </a:extLst>
          </p:cNvPr>
          <p:cNvSpPr txBox="1"/>
          <p:nvPr/>
        </p:nvSpPr>
        <p:spPr>
          <a:xfrm>
            <a:off x="6822585" y="5152757"/>
            <a:ext cx="480030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Gradient Boosting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error among all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it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AB289-257E-ADF2-2A6B-2E0A5E94A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39" y="1289277"/>
            <a:ext cx="4897153" cy="3672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14163E-4E4C-D20B-9DDC-82A353E91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10" y="1100184"/>
            <a:ext cx="4004478" cy="405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30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B74A-598A-942A-2174-B6BC49B5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4CFE204-472B-373C-4A59-B1D0BA2695AF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8ECA1A-47DF-E16E-57CC-AA8280A84F4E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A438B1-3694-B2E6-1344-8C3DB8EFD5CD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19986D-DEE4-EE57-60EE-74FBBC9CC16B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4B9411-6A51-695B-E2D4-2DDFB082FFAC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D3DA510-7EA9-A851-460B-C421517D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2859F-B8EB-7C8B-D72F-E54195E46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11" y="45856"/>
            <a:ext cx="9926177" cy="634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85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9D01-902E-6A6E-F14D-038E7625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379A-80B7-2AE9-1359-75E1B289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16" y="261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(Live System)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BE241-E97B-FDD4-0E36-BEC8AD4F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34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1E48FF2-0D18-E0A8-0085-8A56B4A1A0A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3394" y="1586563"/>
            <a:ext cx="453388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ML system deployed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Flask API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graphs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F53EE-5738-C214-DBF0-4914A19765D9}"/>
              </a:ext>
            </a:extLst>
          </p:cNvPr>
          <p:cNvSpPr txBox="1"/>
          <p:nvPr/>
        </p:nvSpPr>
        <p:spPr>
          <a:xfrm>
            <a:off x="553616" y="5540741"/>
            <a:ext cx="3355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Live Application Link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Deployed Link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2F03C-44D6-18D3-4713-ED688028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904" y="1999670"/>
            <a:ext cx="6749643" cy="31596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29121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A799-2992-96EE-EF8F-723EF4DF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692A-A192-7D88-D0B6-EA109DAB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82" y="633649"/>
            <a:ext cx="10515600" cy="57474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76A16-D9E8-E639-67C1-3C4536A2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1002-3CB3-4040-A6A9-CCF2CFD272D8}" type="slidenum">
              <a:rPr lang="en-IN" smtClean="0"/>
              <a:t>35</a:t>
            </a:fld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037C86-B00F-34D4-844F-A509146D8BD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9093" y="1593394"/>
            <a:ext cx="1014157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Pre-wetted SAP provides effective internal curing by storing and releasing water during hydration, as SAP shows effective absorption-desorption behaviour.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Workability: </a:t>
            </a:r>
            <a:r>
              <a:rPr lang="en-US" dirty="0"/>
              <a:t>Slump improves with pre-wetted SAP due to additional available moisture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7-day strength</a:t>
            </a:r>
            <a:r>
              <a:rPr lang="en-US" dirty="0"/>
              <a:t>: SAP mixes show slightly lower strength than the control mix.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28-day strength</a:t>
            </a:r>
            <a:r>
              <a:rPr lang="en-US" dirty="0"/>
              <a:t>: SAP mixes show comparable or improved strength, especially at low w/c ratios.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Optimum SAP dosage</a:t>
            </a:r>
            <a:r>
              <a:rPr lang="en-US" dirty="0"/>
              <a:t>: 0.2% - 0.4%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Recommended mix</a:t>
            </a:r>
            <a:r>
              <a:rPr lang="en-US" dirty="0"/>
              <a:t>: w/c = 0.36 with 0.4% SAP (pre-wetted)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Overall</a:t>
            </a:r>
            <a:r>
              <a:rPr lang="en-US" dirty="0"/>
              <a:t>: SAP improves workability and long-term strength, while excess SAP (0.6%) reduces strength due to void formation</a:t>
            </a:r>
          </a:p>
        </p:txBody>
      </p:sp>
    </p:spTree>
    <p:extLst>
      <p:ext uri="{BB962C8B-B14F-4D97-AF65-F5344CB8AC3E}">
        <p14:creationId xmlns:p14="http://schemas.microsoft.com/office/powerpoint/2010/main" val="2794676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D103-E1B2-96D9-E343-0486A0A3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2952FD3-67E6-986E-B7DB-EA8D87CB6E98}"/>
              </a:ext>
            </a:extLst>
          </p:cNvPr>
          <p:cNvGrpSpPr/>
          <p:nvPr/>
        </p:nvGrpSpPr>
        <p:grpSpPr>
          <a:xfrm>
            <a:off x="0" y="6376373"/>
            <a:ext cx="12192000" cy="508627"/>
            <a:chOff x="0" y="6354000"/>
            <a:chExt cx="12192000" cy="508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1AA5FC-F817-15FC-76CC-17A5D45429AC}"/>
                </a:ext>
              </a:extLst>
            </p:cNvPr>
            <p:cNvSpPr/>
            <p:nvPr/>
          </p:nvSpPr>
          <p:spPr>
            <a:xfrm>
              <a:off x="0" y="6354000"/>
              <a:ext cx="12192000" cy="144000"/>
            </a:xfrm>
            <a:prstGeom prst="rect">
              <a:avLst/>
            </a:prstGeom>
            <a:solidFill>
              <a:srgbClr val="FCB6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52EEE5-5F95-B607-F33D-45BF7D9626A5}"/>
                </a:ext>
              </a:extLst>
            </p:cNvPr>
            <p:cNvSpPr/>
            <p:nvPr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rgbClr val="1915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E5CCCB-F4C7-3EBA-FD12-1ECA54248809}"/>
                </a:ext>
              </a:extLst>
            </p:cNvPr>
            <p:cNvSpPr/>
            <p:nvPr/>
          </p:nvSpPr>
          <p:spPr>
            <a:xfrm>
              <a:off x="0" y="6498000"/>
              <a:ext cx="12192000" cy="72000"/>
            </a:xfrm>
            <a:prstGeom prst="rect">
              <a:avLst/>
            </a:prstGeom>
            <a:solidFill>
              <a:srgbClr val="B98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33CF54-266C-592C-519F-4CB9395689AE}"/>
                </a:ext>
              </a:extLst>
            </p:cNvPr>
            <p:cNvSpPr/>
            <p:nvPr/>
          </p:nvSpPr>
          <p:spPr>
            <a:xfrm>
              <a:off x="0" y="6763569"/>
              <a:ext cx="12192000" cy="99058"/>
            </a:xfrm>
            <a:prstGeom prst="rect">
              <a:avLst/>
            </a:prstGeom>
            <a:solidFill>
              <a:srgbClr val="100E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9169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B30D086-D756-AEB9-2791-404C4453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983D22-805E-37B9-2B3E-A0C16D3A1F01}"/>
              </a:ext>
            </a:extLst>
          </p:cNvPr>
          <p:cNvSpPr txBox="1"/>
          <p:nvPr/>
        </p:nvSpPr>
        <p:spPr>
          <a:xfrm>
            <a:off x="553900" y="337627"/>
            <a:ext cx="1091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ED893-FB75-6D85-B452-5AF4E0561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3597"/>
            <a:ext cx="12192000" cy="335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2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5DB0-D0B9-996C-C6BD-8D6FF1D6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C14F507-F331-F950-E382-E5D04D2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0F1002-3CB3-4040-A6A9-CCF2CFD272D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9E3FA0B5-7955-4493-CB9E-6BED0DD49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48"/>
          <a:stretch/>
        </p:blipFill>
        <p:spPr>
          <a:xfrm>
            <a:off x="1846" y="1722105"/>
            <a:ext cx="12204720" cy="513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BEB0BD-23FC-1C38-1CC8-43CC4F49BD34}"/>
              </a:ext>
            </a:extLst>
          </p:cNvPr>
          <p:cNvSpPr/>
          <p:nvPr/>
        </p:nvSpPr>
        <p:spPr>
          <a:xfrm rot="10800000">
            <a:off x="-2234" y="-6214"/>
            <a:ext cx="12211920" cy="3357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36000">
                <a:schemeClr val="bg1"/>
              </a:gs>
              <a:gs pos="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7BE33-D3DA-8D41-C0FA-4363D0094738}"/>
              </a:ext>
            </a:extLst>
          </p:cNvPr>
          <p:cNvSpPr txBox="1"/>
          <p:nvPr/>
        </p:nvSpPr>
        <p:spPr>
          <a:xfrm>
            <a:off x="-35914" y="2568105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B8BBF9"/>
                </a:solidFill>
                <a:latin typeface="Proxima Nova"/>
                <a:cs typeface="Poppins" panose="00000800000000000000" pitchFamily="2" charset="0"/>
              </a:rPr>
              <a:t>THANK YOU</a:t>
            </a:r>
            <a:endParaRPr lang="en-IN" sz="3200" b="1" dirty="0">
              <a:solidFill>
                <a:srgbClr val="B8BBF9"/>
              </a:solidFill>
              <a:latin typeface="Proxima Nova"/>
              <a:cs typeface="Poppins" panose="00000800000000000000" pitchFamily="2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C9E13C4-AAD2-7F9A-C071-E7C288BF13E0}"/>
              </a:ext>
            </a:extLst>
          </p:cNvPr>
          <p:cNvSpPr txBox="1">
            <a:spLocks/>
          </p:cNvSpPr>
          <p:nvPr/>
        </p:nvSpPr>
        <p:spPr>
          <a:xfrm>
            <a:off x="8632366" y="63594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0F1002-3CB3-4040-A6A9-CCF2CFD272D8}" type="slidenum">
              <a:rPr lang="en-IN" smtClean="0"/>
              <a:pPr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02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1804</Words>
  <Application>Microsoft Office PowerPoint</Application>
  <PresentationFormat>Widescreen</PresentationFormat>
  <Paragraphs>417</Paragraphs>
  <Slides>37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Proxima Nova</vt:lpstr>
      <vt:lpstr>Times New Roman</vt:lpstr>
      <vt:lpstr>Wingdings</vt:lpstr>
      <vt:lpstr>Office Theme</vt:lpstr>
      <vt:lpstr>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Tea-bag Absorption Test </vt:lpstr>
      <vt:lpstr>Tea-bag Absorption Test Results</vt:lpstr>
      <vt:lpstr>Tea-bag Absorption Test Results</vt:lpstr>
      <vt:lpstr>Desorption Test</vt:lpstr>
      <vt:lpstr>Inference:  </vt:lpstr>
      <vt:lpstr>PowerPoint Presentation</vt:lpstr>
      <vt:lpstr>Fresh Concrete Test  Slump Test-</vt:lpstr>
      <vt:lpstr>Fresh Concrete Test  </vt:lpstr>
      <vt:lpstr>Hardened Concrete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Deployment (Live System) </vt:lpstr>
      <vt:lpstr>Conclusions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kumawat</dc:creator>
  <cp:lastModifiedBy>Gaurav Singh</cp:lastModifiedBy>
  <cp:revision>48</cp:revision>
  <dcterms:created xsi:type="dcterms:W3CDTF">2026-04-09T05:54:05Z</dcterms:created>
  <dcterms:modified xsi:type="dcterms:W3CDTF">2026-05-11T08:50:04Z</dcterms:modified>
</cp:coreProperties>
</file>